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399" r:id="rId4"/>
    <p:sldId id="400" r:id="rId6"/>
    <p:sldId id="403" r:id="rId7"/>
    <p:sldId id="405" r:id="rId8"/>
    <p:sldId id="406" r:id="rId9"/>
    <p:sldId id="408" r:id="rId10"/>
    <p:sldId id="409" r:id="rId11"/>
    <p:sldId id="407" r:id="rId12"/>
    <p:sldId id="404" r:id="rId13"/>
    <p:sldId id="411" r:id="rId14"/>
    <p:sldId id="412" r:id="rId15"/>
    <p:sldId id="277" r:id="rId16"/>
  </p:sldIdLst>
  <p:sldSz cx="12192000" cy="6858000"/>
  <p:notesSz cx="6858000" cy="9144000"/>
  <p:custShowLst>
    <p:custShow name="Custom Show 1" id="0">
      <p:sldLst/>
    </p:custShow>
  </p:custShow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7509" autoAdjust="0"/>
  </p:normalViewPr>
  <p:slideViewPr>
    <p:cSldViewPr snapToGrid="0">
      <p:cViewPr varScale="1">
        <p:scale>
          <a:sx n="69" d="100"/>
          <a:sy n="69" d="100"/>
        </p:scale>
        <p:origin x="780"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9" name="Shape 69"/>
          <p:cNvSpPr>
            <a:spLocks noGrp="1" noRot="1" noChangeAspect="1"/>
          </p:cNvSpPr>
          <p:nvPr>
            <p:ph type="sldImg"/>
          </p:nvPr>
        </p:nvSpPr>
        <p:spPr>
          <a:xfrm>
            <a:off x="1143000" y="685800"/>
            <a:ext cx="4572000" cy="3429000"/>
          </a:xfrm>
          <a:prstGeom prst="rect">
            <a:avLst/>
          </a:prstGeom>
        </p:spPr>
        <p:txBody>
          <a:bodyPr/>
          <a:lstStyle/>
          <a:p/>
        </p:txBody>
      </p:sp>
      <p:sp>
        <p:nvSpPr>
          <p:cNvPr id="70" name="Shape 70"/>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fld>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fld>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fld>
            <a:endParaRPr lang="en-I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fld>
            <a:endParaRPr lang="en-I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fld>
            <a:endParaRPr lang="en-I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fld>
            <a:endParaRPr lang="en-I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fld>
            <a:endParaRPr lang="en-I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fld>
            <a:endParaRPr lang="en-I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fld>
            <a:endParaRPr lang="en-I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p:cSld name="Title Slide">
    <p:spTree>
      <p:nvGrpSpPr>
        <p:cNvPr id="1" name=""/>
        <p:cNvGrpSpPr/>
        <p:nvPr/>
      </p:nvGrpSpPr>
      <p:grpSpPr>
        <a:xfrm>
          <a:off x="0" y="0"/>
          <a:ext cx="0" cy="0"/>
          <a:chOff x="0" y="0"/>
          <a:chExt cx="0" cy="0"/>
        </a:xfrm>
      </p:grpSpPr>
      <p:pic>
        <p:nvPicPr>
          <p:cNvPr id="15" name="Picture 3" descr="Picture 3"/>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
        <p:nvSpPr>
          <p:cNvPr id="16" name="Rectangle 1"/>
          <p:cNvSpPr/>
          <p:nvPr/>
        </p:nvSpPr>
        <p:spPr>
          <a:xfrm>
            <a:off x="1401177" y="3187125"/>
            <a:ext cx="5683365" cy="235764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59"/>
                </a:lnTo>
                <a:lnTo>
                  <a:pt x="14686" y="21600"/>
                </a:lnTo>
                <a:lnTo>
                  <a:pt x="0" y="21496"/>
                </a:lnTo>
                <a:lnTo>
                  <a:pt x="0" y="0"/>
                </a:lnTo>
                <a:close/>
              </a:path>
            </a:pathLst>
          </a:custGeom>
          <a:solidFill>
            <a:srgbClr val="000000"/>
          </a:solidFill>
          <a:ln w="12700">
            <a:miter lim="400000"/>
          </a:ln>
        </p:spPr>
        <p:txBody>
          <a:bodyPr lIns="45719" rIns="45719" anchor="ctr"/>
          <a:lstStyle/>
          <a:p>
            <a:pPr algn="ctr">
              <a:defRPr>
                <a:solidFill>
                  <a:srgbClr val="FFFFFF"/>
                </a:solidFill>
              </a:defRPr>
            </a:pPr>
          </a:p>
        </p:txBody>
      </p:sp>
      <p:sp>
        <p:nvSpPr>
          <p:cNvPr id="17" name="Rectangle 1"/>
          <p:cNvSpPr/>
          <p:nvPr/>
        </p:nvSpPr>
        <p:spPr>
          <a:xfrm>
            <a:off x="-36753" y="-1"/>
            <a:ext cx="5884895" cy="6942126"/>
          </a:xfrm>
          <a:custGeom>
            <a:avLst/>
            <a:gdLst/>
            <a:ahLst/>
            <a:cxnLst>
              <a:cxn ang="0">
                <a:pos x="wd2" y="hd2"/>
              </a:cxn>
              <a:cxn ang="5400000">
                <a:pos x="wd2" y="hd2"/>
              </a:cxn>
              <a:cxn ang="10800000">
                <a:pos x="wd2" y="hd2"/>
              </a:cxn>
              <a:cxn ang="16200000">
                <a:pos x="wd2" y="hd2"/>
              </a:cxn>
            </a:cxnLst>
            <a:rect l="0" t="0" r="r" b="b"/>
            <a:pathLst>
              <a:path w="21600" h="21600" extrusionOk="0">
                <a:moveTo>
                  <a:pt x="35" y="0"/>
                </a:moveTo>
                <a:lnTo>
                  <a:pt x="21600" y="0"/>
                </a:lnTo>
                <a:lnTo>
                  <a:pt x="4754" y="21583"/>
                </a:lnTo>
                <a:lnTo>
                  <a:pt x="0" y="21600"/>
                </a:lnTo>
                <a:lnTo>
                  <a:pt x="35" y="0"/>
                </a:lnTo>
                <a:close/>
              </a:path>
            </a:pathLst>
          </a:custGeom>
          <a:solidFill>
            <a:srgbClr val="000000"/>
          </a:solidFill>
          <a:ln w="12700">
            <a:solidFill>
              <a:srgbClr val="000000"/>
            </a:solidFill>
            <a:miter/>
          </a:ln>
        </p:spPr>
        <p:txBody>
          <a:bodyPr lIns="45719" rIns="45719" anchor="ctr"/>
          <a:lstStyle/>
          <a:p>
            <a:pPr algn="ctr">
              <a:defRPr>
                <a:solidFill>
                  <a:srgbClr val="FFFFFF"/>
                </a:solidFill>
              </a:defRPr>
            </a:pPr>
          </a:p>
        </p:txBody>
      </p:sp>
      <p:sp>
        <p:nvSpPr>
          <p:cNvPr id="18" name="Rectangle 1"/>
          <p:cNvSpPr/>
          <p:nvPr/>
        </p:nvSpPr>
        <p:spPr>
          <a:xfrm>
            <a:off x="-114575" y="2083684"/>
            <a:ext cx="7934743" cy="3692696"/>
          </a:xfrm>
          <a:custGeom>
            <a:avLst/>
            <a:gdLst/>
            <a:ahLst/>
            <a:cxnLst>
              <a:cxn ang="0">
                <a:pos x="wd2" y="hd2"/>
              </a:cxn>
              <a:cxn ang="5400000">
                <a:pos x="wd2" y="hd2"/>
              </a:cxn>
              <a:cxn ang="10800000">
                <a:pos x="wd2" y="hd2"/>
              </a:cxn>
              <a:cxn ang="16200000">
                <a:pos x="wd2" y="hd2"/>
              </a:cxn>
            </a:cxnLst>
            <a:rect l="0" t="0" r="r" b="b"/>
            <a:pathLst>
              <a:path w="21600" h="21600" extrusionOk="0">
                <a:moveTo>
                  <a:pt x="13" y="12"/>
                </a:moveTo>
                <a:lnTo>
                  <a:pt x="21600" y="0"/>
                </a:lnTo>
                <a:lnTo>
                  <a:pt x="13838" y="21600"/>
                </a:lnTo>
                <a:lnTo>
                  <a:pt x="0" y="21573"/>
                </a:lnTo>
                <a:cubicBezTo>
                  <a:pt x="12" y="14619"/>
                  <a:pt x="1" y="6967"/>
                  <a:pt x="13" y="12"/>
                </a:cubicBezTo>
                <a:close/>
              </a:path>
            </a:pathLst>
          </a:custGeom>
          <a:gradFill>
            <a:gsLst>
              <a:gs pos="21000">
                <a:srgbClr val="087AC0"/>
              </a:gs>
              <a:gs pos="100000">
                <a:srgbClr val="39B2E5"/>
              </a:gs>
            </a:gsLst>
            <a:lin ang="2700000"/>
          </a:gradFill>
          <a:ln w="12700">
            <a:miter lim="400000"/>
          </a:ln>
        </p:spPr>
        <p:txBody>
          <a:bodyPr lIns="45719" rIns="45719" anchor="ctr"/>
          <a:lstStyle/>
          <a:p>
            <a:pPr algn="ctr">
              <a:defRPr>
                <a:solidFill>
                  <a:srgbClr val="FFFFFF"/>
                </a:solidFill>
              </a:defRPr>
            </a:pPr>
          </a:p>
        </p:txBody>
      </p:sp>
      <p:sp>
        <p:nvSpPr>
          <p:cNvPr id="19" name="Straight Connector 11"/>
          <p:cNvSpPr/>
          <p:nvPr/>
        </p:nvSpPr>
        <p:spPr>
          <a:xfrm>
            <a:off x="508763" y="4037948"/>
            <a:ext cx="5180524" cy="1"/>
          </a:xfrm>
          <a:prstGeom prst="line">
            <a:avLst/>
          </a:prstGeom>
          <a:ln w="19050">
            <a:solidFill>
              <a:srgbClr val="FFFFFF"/>
            </a:solidFill>
            <a:miter/>
          </a:ln>
        </p:spPr>
        <p:txBody>
          <a:bodyPr lIns="45719" rIns="45719"/>
          <a:lstStyle/>
          <a:p/>
        </p:txBody>
      </p:sp>
      <p:sp>
        <p:nvSpPr>
          <p:cNvPr id="20" name="Title Text"/>
          <p:cNvSpPr txBox="1">
            <a:spLocks noGrp="1"/>
          </p:cNvSpPr>
          <p:nvPr>
            <p:ph type="title" hasCustomPrompt="1"/>
          </p:nvPr>
        </p:nvSpPr>
        <p:spPr>
          <a:xfrm>
            <a:off x="431486" y="2656202"/>
            <a:ext cx="6677794" cy="1296000"/>
          </a:xfrm>
          <a:prstGeom prst="rect">
            <a:avLst/>
          </a:prstGeom>
        </p:spPr>
        <p:txBody>
          <a:bodyPr anchor="b"/>
          <a:lstStyle>
            <a:lvl1pPr>
              <a:defRPr sz="3600" b="0">
                <a:solidFill>
                  <a:srgbClr val="FFFFFF"/>
                </a:solidFill>
                <a:latin typeface="+mn-lt"/>
                <a:ea typeface="+mn-ea"/>
                <a:cs typeface="+mn-cs"/>
                <a:sym typeface="Calibri"/>
              </a:defRPr>
            </a:lvl1pPr>
          </a:lstStyle>
          <a:p>
            <a:r>
              <a:t>Title Text</a:t>
            </a:r>
          </a:p>
        </p:txBody>
      </p:sp>
      <p:sp>
        <p:nvSpPr>
          <p:cNvPr id="21" name="Body Level One…"/>
          <p:cNvSpPr txBox="1">
            <a:spLocks noGrp="1"/>
          </p:cNvSpPr>
          <p:nvPr>
            <p:ph type="body" sz="quarter" idx="1" hasCustomPrompt="1"/>
          </p:nvPr>
        </p:nvSpPr>
        <p:spPr>
          <a:xfrm>
            <a:off x="431486" y="4100900"/>
            <a:ext cx="5257801" cy="547450"/>
          </a:xfrm>
          <a:prstGeom prst="rect">
            <a:avLst/>
          </a:prstGeom>
        </p:spPr>
        <p:txBody>
          <a:bodyPr/>
          <a:lstStyle>
            <a:lvl1pPr marL="0" indent="0">
              <a:buClrTx/>
              <a:buSzTx/>
              <a:buNone/>
              <a:defRPr sz="2400">
                <a:solidFill>
                  <a:srgbClr val="FFFFFF"/>
                </a:solidFill>
              </a:defRPr>
            </a:lvl1pPr>
            <a:lvl2pPr marL="0" indent="457200">
              <a:buClrTx/>
              <a:buSzTx/>
              <a:buNone/>
              <a:defRPr sz="2400">
                <a:solidFill>
                  <a:srgbClr val="FFFFFF"/>
                </a:solidFill>
              </a:defRPr>
            </a:lvl2pPr>
            <a:lvl3pPr marL="0" indent="914400">
              <a:buClrTx/>
              <a:buSzTx/>
              <a:buNone/>
              <a:defRPr sz="2400">
                <a:solidFill>
                  <a:srgbClr val="FFFFFF"/>
                </a:solidFill>
              </a:defRPr>
            </a:lvl3pPr>
            <a:lvl4pPr marL="0" indent="1371600">
              <a:buClrTx/>
              <a:buSzTx/>
              <a:buNone/>
              <a:defRPr sz="2400">
                <a:solidFill>
                  <a:srgbClr val="FFFFFF"/>
                </a:solidFill>
              </a:defRPr>
            </a:lvl4pPr>
            <a:lvl5pPr marL="0" indent="1828800">
              <a:buClrTx/>
              <a:buSzTx/>
              <a:buNone/>
              <a:defRPr sz="24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0">
  <p:cSld name="Title Only">
    <p:spTree>
      <p:nvGrpSpPr>
        <p:cNvPr id="1" name=""/>
        <p:cNvGrpSpPr/>
        <p:nvPr/>
      </p:nvGrpSpPr>
      <p:grpSpPr>
        <a:xfrm>
          <a:off x="0" y="0"/>
          <a:ext cx="0" cy="0"/>
          <a:chOff x="0" y="0"/>
          <a:chExt cx="0" cy="0"/>
        </a:xfrm>
      </p:grpSpPr>
      <p:pic>
        <p:nvPicPr>
          <p:cNvPr id="48" name="Picture 10" descr="Picture 10"/>
          <p:cNvPicPr>
            <a:picLocks noChangeAspect="1"/>
          </p:cNvPicPr>
          <p:nvPr/>
        </p:nvPicPr>
        <p:blipFill>
          <a:blip r:embed="rId2"/>
          <a:stretch>
            <a:fillRect/>
          </a:stretch>
        </p:blipFill>
        <p:spPr>
          <a:xfrm>
            <a:off x="-2" y="895"/>
            <a:ext cx="12193598" cy="6857105"/>
          </a:xfrm>
          <a:prstGeom prst="rect">
            <a:avLst/>
          </a:prstGeom>
          <a:ln w="12700">
            <a:miter lim="400000"/>
            <a:headEnd/>
            <a:tailEnd/>
          </a:ln>
        </p:spPr>
      </p:pic>
      <p:sp>
        <p:nvSpPr>
          <p:cNvPr id="49" name="Straight Connector 37"/>
          <p:cNvSpPr/>
          <p:nvPr/>
        </p:nvSpPr>
        <p:spPr>
          <a:xfrm>
            <a:off x="4667999" y="4432633"/>
            <a:ext cx="7524000" cy="14468"/>
          </a:xfrm>
          <a:prstGeom prst="line">
            <a:avLst/>
          </a:prstGeom>
          <a:ln w="6350">
            <a:solidFill>
              <a:srgbClr val="FFFFFF"/>
            </a:solidFill>
            <a:miter/>
          </a:ln>
        </p:spPr>
        <p:txBody>
          <a:bodyPr lIns="45719" rIns="45719"/>
          <a:lstStyle/>
          <a:p/>
        </p:txBody>
      </p:sp>
      <p:sp>
        <p:nvSpPr>
          <p:cNvPr id="50" name="Straight Connector 39"/>
          <p:cNvSpPr/>
          <p:nvPr/>
        </p:nvSpPr>
        <p:spPr>
          <a:xfrm>
            <a:off x="7073548" y="2563746"/>
            <a:ext cx="5118452" cy="1"/>
          </a:xfrm>
          <a:prstGeom prst="line">
            <a:avLst/>
          </a:prstGeom>
          <a:ln w="6350">
            <a:solidFill>
              <a:srgbClr val="FFFFFF"/>
            </a:solidFill>
            <a:miter/>
          </a:ln>
        </p:spPr>
        <p:txBody>
          <a:bodyPr lIns="45719" rIns="45719"/>
          <a:lstStyle/>
          <a:p/>
        </p:txBody>
      </p:sp>
      <p:sp>
        <p:nvSpPr>
          <p:cNvPr id="52" name="Rectangle 42"/>
          <p:cNvSpPr/>
          <p:nvPr/>
        </p:nvSpPr>
        <p:spPr>
          <a:xfrm>
            <a:off x="-9525" y="2533650"/>
            <a:ext cx="5315585" cy="1927860"/>
          </a:xfrm>
          <a:custGeom>
            <a:avLst/>
            <a:gdLst/>
            <a:ahLst/>
            <a:cxnLst>
              <a:cxn ang="0">
                <a:pos x="wd2" y="hd2"/>
              </a:cxn>
              <a:cxn ang="5400000">
                <a:pos x="wd2" y="hd2"/>
              </a:cxn>
              <a:cxn ang="10800000">
                <a:pos x="wd2" y="hd2"/>
              </a:cxn>
              <a:cxn ang="16200000">
                <a:pos x="wd2" y="hd2"/>
              </a:cxn>
            </a:cxnLst>
            <a:rect l="0" t="0" r="r" b="b"/>
            <a:pathLst>
              <a:path w="21600" h="21600" extrusionOk="0">
                <a:moveTo>
                  <a:pt x="24" y="0"/>
                </a:moveTo>
                <a:lnTo>
                  <a:pt x="21600" y="20"/>
                </a:lnTo>
                <a:lnTo>
                  <a:pt x="18299" y="21536"/>
                </a:lnTo>
                <a:lnTo>
                  <a:pt x="0" y="21600"/>
                </a:lnTo>
                <a:lnTo>
                  <a:pt x="24" y="0"/>
                </a:lnTo>
                <a:close/>
              </a:path>
            </a:pathLst>
          </a:custGeom>
          <a:solidFill>
            <a:srgbClr val="0D0D0D"/>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54" name="Title 1"/>
          <p:cNvSpPr txBox="1"/>
          <p:nvPr/>
        </p:nvSpPr>
        <p:spPr>
          <a:xfrm>
            <a:off x="5363588" y="2393533"/>
            <a:ext cx="1667098" cy="611758"/>
          </a:xfrm>
          <a:prstGeom prst="rect">
            <a:avLst/>
          </a:prstGeom>
          <a:ln w="12700">
            <a:miter lim="400000"/>
          </a:ln>
        </p:spPr>
        <p:txBody>
          <a:bodyPr lIns="45719" rIns="45719">
            <a:normAutofit fontScale="92500"/>
          </a:bodyPr>
          <a:lstStyle>
            <a:lvl1pPr algn="ctr" defTabSz="831850">
              <a:defRPr sz="2095" b="1">
                <a:solidFill>
                  <a:srgbClr val="FFFFFF"/>
                </a:solidFill>
                <a:latin typeface="Helvetica LT Std Cond"/>
                <a:ea typeface="Helvetica LT Std Cond"/>
                <a:cs typeface="Helvetica LT Std Cond"/>
                <a:sym typeface="Helvetica LT Std Cond"/>
              </a:defRPr>
            </a:lvl1pPr>
          </a:lstStyle>
          <a:p>
            <a:r>
              <a:t>THANK YOU</a:t>
            </a:r>
          </a:p>
        </p:txBody>
      </p:sp>
      <p:sp>
        <p:nvSpPr>
          <p:cNvPr id="56" name="Slide Number"/>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8354" y="1742499"/>
            <a:ext cx="10622576" cy="4572241"/>
          </a:xfrm>
          <a:prstGeom prst="rect">
            <a:avLst/>
          </a:prstGeom>
        </p:spPr>
        <p:txBody>
          <a:bodyPr/>
          <a:lstStyle>
            <a:lvl1pPr marL="457200" indent="-457200">
              <a:spcBef>
                <a:spcPts val="500"/>
              </a:spcBef>
              <a:buFont typeface="Wingdings" panose="05000000000000000000" pitchFamily="2" charset="2"/>
              <a:buChar char="Ø"/>
              <a:defRPr sz="2400">
                <a:latin typeface="Helvetica LT Std Cond Light" panose="020B0406020202030204" pitchFamily="34" charset="0"/>
              </a:defRPr>
            </a:lvl1pPr>
            <a:lvl2pPr>
              <a:defRPr sz="2200">
                <a:latin typeface="Helvetica LT Std Cond Light" panose="020B0406020202030204" pitchFamily="34" charset="0"/>
              </a:defRPr>
            </a:lvl2pPr>
            <a:lvl3pPr marL="1143000" indent="-228600">
              <a:buFont typeface="Wingdings" panose="05000000000000000000" pitchFamily="2" charset="2"/>
              <a:buChar char="§"/>
              <a:defRPr sz="2000">
                <a:latin typeface="Helvetica LT Std Cond Light" panose="020B0406020202030204" pitchFamily="34" charset="0"/>
              </a:defRPr>
            </a:lvl3pPr>
            <a:lvl4pPr marL="1600200" indent="-228600">
              <a:buFont typeface="Wingdings" panose="05000000000000000000" pitchFamily="2" charset="2"/>
              <a:buChar char="§"/>
              <a:defRPr sz="1800">
                <a:latin typeface="Helvetica LT Std Cond Light" panose="020B0406020202030204" pitchFamily="34" charset="0"/>
              </a:defRPr>
            </a:lvl4pPr>
            <a:lvl5pPr marL="2057400" indent="-228600">
              <a:buFont typeface="Wingdings" panose="05000000000000000000" pitchFamily="2" charset="2"/>
              <a:buChar char="§"/>
              <a:defRPr sz="1600">
                <a:latin typeface="Helvetica LT Std Cond Light" panose="020B0406020202030204" pitchFamily="34" charset="0"/>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dirty="0"/>
          </a:p>
        </p:txBody>
      </p:sp>
      <p:sp>
        <p:nvSpPr>
          <p:cNvPr id="9" name="Title 1"/>
          <p:cNvSpPr>
            <a:spLocks noGrp="1"/>
          </p:cNvSpPr>
          <p:nvPr>
            <p:ph type="title" hasCustomPrompt="1"/>
          </p:nvPr>
        </p:nvSpPr>
        <p:spPr>
          <a:xfrm>
            <a:off x="349621" y="921641"/>
            <a:ext cx="8039005" cy="369812"/>
          </a:xfrm>
          <a:prstGeom prst="rect">
            <a:avLst/>
          </a:prstGeom>
        </p:spPr>
        <p:txBody>
          <a:bodyPr/>
          <a:lstStyle>
            <a:lvl1pPr>
              <a:defRPr sz="2400" b="1">
                <a:solidFill>
                  <a:srgbClr val="02918B"/>
                </a:solidFill>
                <a:latin typeface="Helvetica LT Std Cond" panose="020B0506020202030204" pitchFamily="34" charset="0"/>
              </a:defRPr>
            </a:lvl1pPr>
          </a:lstStyle>
          <a:p>
            <a:r>
              <a:rPr lang="en-US" dirty="0"/>
              <a:t>SLIDE TITLE</a:t>
            </a:r>
            <a:endParaRPr lang="en-IN" dirty="0"/>
          </a:p>
        </p:txBody>
      </p:sp>
      <p:sp>
        <p:nvSpPr>
          <p:cNvPr id="6" name="TextBox 5"/>
          <p:cNvSpPr txBox="1"/>
          <p:nvPr userDrawn="1"/>
        </p:nvSpPr>
        <p:spPr>
          <a:xfrm>
            <a:off x="5794786" y="6454591"/>
            <a:ext cx="602429" cy="276999"/>
          </a:xfrm>
          <a:prstGeom prst="rect">
            <a:avLst/>
          </a:prstGeom>
          <a:noFill/>
        </p:spPr>
        <p:txBody>
          <a:bodyPr wrap="square" rtlCol="0">
            <a:spAutoFit/>
          </a:bodyPr>
          <a:lstStyle/>
          <a:p>
            <a:pPr algn="ctr"/>
            <a:fld id="{80185F77-B28D-4181-BD8D-423D01B3D466}" type="slidenum">
              <a:rPr lang="en-IN" sz="1200" smtClean="0">
                <a:solidFill>
                  <a:schemeClr val="bg1">
                    <a:lumMod val="50000"/>
                  </a:schemeClr>
                </a:solidFill>
              </a:rPr>
            </a:fld>
            <a:endParaRPr lang="en-IN" sz="1200" dirty="0">
              <a:solidFill>
                <a:schemeClr val="bg1">
                  <a:lumMod val="50000"/>
                </a:schemeClr>
              </a:solidFill>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73050" y="200025"/>
            <a:ext cx="10515600" cy="617753"/>
          </a:xfrm>
          <a:prstGeom prst="rect">
            <a:avLst/>
          </a:prstGeom>
          <a:ln w="12700">
            <a:miter lim="400000"/>
          </a:ln>
        </p:spPr>
        <p:txBody>
          <a:bodyPr lIns="45719" rIns="45719" anchor="ctr">
            <a:normAutofit/>
          </a:bodyPr>
          <a:lstStyle/>
          <a:p>
            <a:r>
              <a:t>Title Text</a:t>
            </a:r>
          </a:p>
        </p:txBody>
      </p:sp>
      <p:sp>
        <p:nvSpPr>
          <p:cNvPr id="3" name="Body Level One…"/>
          <p:cNvSpPr txBox="1">
            <a:spLocks noGrp="1"/>
          </p:cNvSpPr>
          <p:nvPr>
            <p:ph type="body" idx="1"/>
          </p:nvPr>
        </p:nvSpPr>
        <p:spPr>
          <a:xfrm>
            <a:off x="298524" y="1717993"/>
            <a:ext cx="10515601" cy="4351339"/>
          </a:xfrm>
          <a:prstGeom prst="rect">
            <a:avLst/>
          </a:prstGeom>
          <a:ln w="12700">
            <a:miter lim="400000"/>
          </a:ln>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Rectangle 11"/>
          <p:cNvSpPr/>
          <p:nvPr/>
        </p:nvSpPr>
        <p:spPr>
          <a:xfrm>
            <a:off x="3984585" y="2174563"/>
            <a:ext cx="3251199" cy="13335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19237" y="21600"/>
                </a:lnTo>
                <a:lnTo>
                  <a:pt x="0" y="20983"/>
                </a:lnTo>
                <a:lnTo>
                  <a:pt x="0" y="0"/>
                </a:lnTo>
                <a:close/>
              </a:path>
            </a:pathLst>
          </a:custGeom>
          <a:solidFill>
            <a:srgbClr val="FFFFFF"/>
          </a:solidFill>
          <a:ln w="12700">
            <a:miter lim="400000"/>
          </a:ln>
        </p:spPr>
        <p:txBody>
          <a:bodyPr lIns="45719" rIns="45719" anchor="ctr"/>
          <a:lstStyle/>
          <a:p>
            <a:pPr algn="ctr">
              <a:defRPr>
                <a:solidFill>
                  <a:srgbClr val="FFFFFF"/>
                </a:solidFill>
              </a:defRPr>
            </a:pPr>
          </a:p>
        </p:txBody>
      </p:sp>
      <p:sp>
        <p:nvSpPr>
          <p:cNvPr id="5" name="Rectangle 4"/>
          <p:cNvSpPr/>
          <p:nvPr/>
        </p:nvSpPr>
        <p:spPr>
          <a:xfrm>
            <a:off x="0" y="0"/>
            <a:ext cx="12179300" cy="45719"/>
          </a:xfrm>
          <a:prstGeom prst="rect">
            <a:avLst/>
          </a:prstGeom>
          <a:solidFill>
            <a:srgbClr val="000000"/>
          </a:solidFill>
          <a:ln w="12700">
            <a:solidFill>
              <a:srgbClr val="000000"/>
            </a:solidFill>
            <a:miter/>
          </a:ln>
        </p:spPr>
        <p:txBody>
          <a:bodyPr lIns="45719" rIns="45719" anchor="ctr"/>
          <a:lstStyle/>
          <a:p>
            <a:pPr algn="ctr">
              <a:defRPr>
                <a:solidFill>
                  <a:srgbClr val="FFFFFF"/>
                </a:solidFill>
              </a:defRPr>
            </a:pPr>
          </a:p>
        </p:txBody>
      </p:sp>
      <p:sp>
        <p:nvSpPr>
          <p:cNvPr id="6" name="Rectangle 6"/>
          <p:cNvSpPr/>
          <p:nvPr/>
        </p:nvSpPr>
        <p:spPr>
          <a:xfrm rot="10800000" flipH="1">
            <a:off x="9105900" y="0"/>
            <a:ext cx="3073400" cy="825500"/>
          </a:xfrm>
          <a:custGeom>
            <a:avLst/>
            <a:gdLst/>
            <a:ahLst/>
            <a:cxnLst>
              <a:cxn ang="0">
                <a:pos x="wd2" y="hd2"/>
              </a:cxn>
              <a:cxn ang="5400000">
                <a:pos x="wd2" y="hd2"/>
              </a:cxn>
              <a:cxn ang="10800000">
                <a:pos x="wd2" y="hd2"/>
              </a:cxn>
              <a:cxn ang="16200000">
                <a:pos x="wd2" y="hd2"/>
              </a:cxn>
            </a:cxnLst>
            <a:rect l="0" t="0" r="r" b="b"/>
            <a:pathLst>
              <a:path w="21600" h="21600" extrusionOk="0">
                <a:moveTo>
                  <a:pt x="3899" y="332"/>
                </a:moveTo>
                <a:lnTo>
                  <a:pt x="21600" y="0"/>
                </a:lnTo>
                <a:lnTo>
                  <a:pt x="21600" y="21268"/>
                </a:lnTo>
                <a:lnTo>
                  <a:pt x="0" y="21600"/>
                </a:lnTo>
                <a:lnTo>
                  <a:pt x="3899" y="332"/>
                </a:lnTo>
                <a:close/>
              </a:path>
            </a:pathLst>
          </a:custGeom>
          <a:solidFill>
            <a:srgbClr val="000000"/>
          </a:solidFill>
          <a:ln w="12700">
            <a:solidFill>
              <a:srgbClr val="000000"/>
            </a:solidFill>
            <a:miter/>
          </a:ln>
        </p:spPr>
        <p:txBody>
          <a:bodyPr lIns="45719" rIns="45719" anchor="ctr"/>
          <a:lstStyle/>
          <a:p>
            <a:pPr algn="ctr">
              <a:defRPr>
                <a:solidFill>
                  <a:srgbClr val="FFFFFF"/>
                </a:solidFill>
              </a:defRPr>
            </a:pPr>
          </a:p>
        </p:txBody>
      </p:sp>
      <p:sp>
        <p:nvSpPr>
          <p:cNvPr id="8"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1pPr>
      <a:lvl2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2pPr>
      <a:lvl3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3pPr>
      <a:lvl4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4pPr>
      <a:lvl5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5pPr>
      <a:lvl6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6pPr>
      <a:lvl7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7pPr>
      <a:lvl8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8pPr>
      <a:lvl9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9pPr>
    </p:titleStyle>
    <p:bodyStyle>
      <a:lvl1pPr marL="228600" marR="0" indent="-228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2pPr>
      <a:lvl3pPr marL="1234440" marR="0" indent="-32004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itle 2"/>
          <p:cNvSpPr txBox="1">
            <a:spLocks noGrp="1"/>
          </p:cNvSpPr>
          <p:nvPr>
            <p:ph type="title"/>
          </p:nvPr>
        </p:nvSpPr>
        <p:spPr>
          <a:xfrm>
            <a:off x="431486" y="2763892"/>
            <a:ext cx="6183323" cy="1296001"/>
          </a:xfrm>
          <a:prstGeom prst="rect">
            <a:avLst/>
          </a:prstGeom>
        </p:spPr>
        <p:txBody>
          <a:bodyPr anchor="ctr"/>
          <a:lstStyle/>
          <a:p>
            <a:pPr>
              <a:defRPr sz="3200" b="1">
                <a:latin typeface="Helvetica LT Std Cond"/>
                <a:ea typeface="Helvetica LT Std Cond"/>
                <a:cs typeface="Helvetica LT Std Cond"/>
                <a:sym typeface="Helvetica LT Std Cond"/>
              </a:defRPr>
            </a:pPr>
            <a:r>
              <a:rPr lang="en-IN" dirty="0"/>
              <a:t>Day </a:t>
            </a:r>
            <a:r>
              <a:rPr lang="en-IN" dirty="0" smtClean="0"/>
              <a:t>2 </a:t>
            </a:r>
            <a:r>
              <a:rPr lang="en-IN" dirty="0"/>
              <a:t>– Introduction to </a:t>
            </a:r>
            <a:r>
              <a:rPr lang="en-IN" dirty="0" smtClean="0"/>
              <a:t>Zephyr</a:t>
            </a:r>
            <a:endParaRPr dirty="0"/>
          </a:p>
        </p:txBody>
      </p:sp>
      <p:sp>
        <p:nvSpPr>
          <p:cNvPr id="73" name="Text Placeholder 3"/>
          <p:cNvSpPr txBox="1">
            <a:spLocks noGrp="1"/>
          </p:cNvSpPr>
          <p:nvPr>
            <p:ph type="body" sz="quarter" idx="1"/>
          </p:nvPr>
        </p:nvSpPr>
        <p:spPr>
          <a:xfrm>
            <a:off x="431486" y="4203932"/>
            <a:ext cx="5257801" cy="1218075"/>
          </a:xfrm>
          <a:prstGeom prst="rect">
            <a:avLst/>
          </a:prstGeom>
        </p:spPr>
        <p:txBody>
          <a:bodyPr/>
          <a:lstStyle/>
          <a:p>
            <a:pPr>
              <a:defRPr>
                <a:latin typeface="Helvetica LT Std Cond"/>
                <a:ea typeface="Helvetica LT Std Cond"/>
                <a:cs typeface="Helvetica LT Std Cond"/>
                <a:sym typeface="Helvetica LT Std Cond"/>
              </a:defRPr>
            </a:pP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05048" y="1549333"/>
            <a:ext cx="10703527" cy="3903815"/>
          </a:xfrm>
        </p:spPr>
        <p:txBody>
          <a:bodyPr>
            <a:noAutofit/>
          </a:bodyPr>
          <a:lstStyle/>
          <a:p>
            <a:r>
              <a:rPr lang="en-IN" dirty="0" smtClean="0">
                <a:latin typeface="+mn-lt"/>
              </a:rPr>
              <a:t>About Zephyr</a:t>
            </a:r>
            <a:endParaRPr lang="en-IN" dirty="0">
              <a:latin typeface="+mn-lt"/>
            </a:endParaRPr>
          </a:p>
          <a:p>
            <a:r>
              <a:rPr lang="en-US" dirty="0">
                <a:latin typeface="+mn-lt"/>
              </a:rPr>
              <a:t>Features of Zephyr for </a:t>
            </a:r>
            <a:r>
              <a:rPr lang="en-US" dirty="0" smtClean="0">
                <a:latin typeface="+mn-lt"/>
              </a:rPr>
              <a:t>JIRA</a:t>
            </a:r>
            <a:endParaRPr lang="en-US" dirty="0" smtClean="0">
              <a:latin typeface="+mn-lt"/>
            </a:endParaRPr>
          </a:p>
          <a:p>
            <a:r>
              <a:rPr lang="en-US" dirty="0" smtClean="0">
                <a:latin typeface="+mn-lt"/>
              </a:rPr>
              <a:t>Adding Zephyr Plugin to Jira Cloud</a:t>
            </a:r>
            <a:endParaRPr lang="en-US" dirty="0">
              <a:latin typeface="+mn-lt"/>
            </a:endParaRPr>
          </a:p>
          <a:p>
            <a:r>
              <a:rPr lang="en-US" dirty="0">
                <a:latin typeface="+mn-lt"/>
              </a:rPr>
              <a:t>How to use the Zephyr for JIRA test management tool</a:t>
            </a:r>
            <a:endParaRPr lang="en-US" dirty="0">
              <a:latin typeface="+mn-lt"/>
            </a:endParaRPr>
          </a:p>
          <a:p>
            <a:pPr lvl="1">
              <a:buFont typeface="Courier New" panose="02070309020205020404" pitchFamily="49" charset="0"/>
              <a:buChar char="o"/>
            </a:pPr>
            <a:r>
              <a:rPr lang="en-US" dirty="0">
                <a:latin typeface="+mn-lt"/>
              </a:rPr>
              <a:t>Create a Test</a:t>
            </a:r>
            <a:endParaRPr lang="en-US" dirty="0">
              <a:latin typeface="+mn-lt"/>
            </a:endParaRPr>
          </a:p>
          <a:p>
            <a:pPr lvl="1">
              <a:buFont typeface="Courier New" panose="02070309020205020404" pitchFamily="49" charset="0"/>
              <a:buChar char="o"/>
            </a:pPr>
            <a:r>
              <a:rPr lang="en-US" dirty="0">
                <a:latin typeface="+mn-lt"/>
              </a:rPr>
              <a:t>Modify and View a Test</a:t>
            </a:r>
            <a:endParaRPr lang="en-US" dirty="0">
              <a:latin typeface="+mn-lt"/>
            </a:endParaRPr>
          </a:p>
          <a:p>
            <a:pPr lvl="1">
              <a:buFont typeface="Courier New" panose="02070309020205020404" pitchFamily="49" charset="0"/>
              <a:buChar char="o"/>
            </a:pPr>
            <a:r>
              <a:rPr lang="en-US" dirty="0">
                <a:latin typeface="+mn-lt"/>
              </a:rPr>
              <a:t>Create a Test Cycle</a:t>
            </a:r>
            <a:endParaRPr lang="en-US" dirty="0">
              <a:latin typeface="+mn-lt"/>
            </a:endParaRPr>
          </a:p>
          <a:p>
            <a:pPr lvl="1">
              <a:buFont typeface="Courier New" panose="02070309020205020404" pitchFamily="49" charset="0"/>
              <a:buChar char="o"/>
            </a:pPr>
            <a:r>
              <a:rPr lang="en-US" dirty="0">
                <a:latin typeface="+mn-lt"/>
              </a:rPr>
              <a:t>Add Tests to Test Cycles</a:t>
            </a:r>
            <a:endParaRPr lang="en-US" dirty="0">
              <a:latin typeface="+mn-lt"/>
            </a:endParaRPr>
          </a:p>
          <a:p>
            <a:pPr lvl="1">
              <a:buFont typeface="Courier New" panose="02070309020205020404" pitchFamily="49" charset="0"/>
              <a:buChar char="o"/>
            </a:pPr>
            <a:r>
              <a:rPr lang="en-US" dirty="0">
                <a:latin typeface="+mn-lt"/>
              </a:rPr>
              <a:t>Assign Test Executions</a:t>
            </a:r>
            <a:endParaRPr lang="en-US" dirty="0">
              <a:latin typeface="+mn-lt"/>
            </a:endParaRPr>
          </a:p>
          <a:p>
            <a:pPr lvl="1">
              <a:buFont typeface="Courier New" panose="02070309020205020404" pitchFamily="49" charset="0"/>
              <a:buChar char="o"/>
            </a:pPr>
            <a:r>
              <a:rPr lang="en-US" dirty="0">
                <a:latin typeface="+mn-lt"/>
              </a:rPr>
              <a:t>Execute the Tests</a:t>
            </a:r>
            <a:endParaRPr lang="en-US" dirty="0">
              <a:latin typeface="+mn-lt"/>
            </a:endParaRPr>
          </a:p>
          <a:p>
            <a:pPr lvl="1">
              <a:buFont typeface="Courier New" panose="02070309020205020404" pitchFamily="49" charset="0"/>
              <a:buChar char="o"/>
            </a:pPr>
            <a:r>
              <a:rPr lang="en-US" dirty="0">
                <a:latin typeface="+mn-lt"/>
              </a:rPr>
              <a:t>View Testing Progress</a:t>
            </a:r>
            <a:endParaRPr lang="en-US" dirty="0">
              <a:latin typeface="+mn-lt"/>
            </a:endParaRPr>
          </a:p>
        </p:txBody>
      </p:sp>
      <p:sp>
        <p:nvSpPr>
          <p:cNvPr id="3" name="Title 2"/>
          <p:cNvSpPr>
            <a:spLocks noGrp="1"/>
          </p:cNvSpPr>
          <p:nvPr>
            <p:ph type="title"/>
          </p:nvPr>
        </p:nvSpPr>
        <p:spPr>
          <a:xfrm>
            <a:off x="603618" y="234639"/>
            <a:ext cx="8039005" cy="369812"/>
          </a:xfrm>
        </p:spPr>
        <p:txBody>
          <a:bodyPr>
            <a:normAutofit fontScale="90000"/>
          </a:bodyPr>
          <a:lstStyle/>
          <a:p>
            <a:pPr lvl="0"/>
            <a:r>
              <a:rPr lang="en-US" dirty="0"/>
              <a:t>Table of Contents – Day 1</a:t>
            </a:r>
            <a:endParaRPr lang="en-IN" dirty="0">
              <a:solidFill>
                <a:schemeClr val="tx1"/>
              </a:solidFill>
            </a:endParaRPr>
          </a:p>
        </p:txBody>
      </p:sp>
      <p:sp>
        <p:nvSpPr>
          <p:cNvPr id="5" name="Rectangle 1"/>
          <p:cNvSpPr>
            <a:spLocks noChangeArrowheads="1"/>
          </p:cNvSpPr>
          <p:nvPr/>
        </p:nvSpPr>
        <p:spPr bwMode="auto">
          <a:xfrm>
            <a:off x="4413250" y="28082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br>
              <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rPr>
            </a:br>
            <a:endPar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91193" y="1826424"/>
            <a:ext cx="10703527" cy="3903815"/>
          </a:xfrm>
        </p:spPr>
        <p:txBody>
          <a:bodyPr>
            <a:noAutofit/>
          </a:bodyPr>
          <a:lstStyle/>
          <a:p>
            <a:r>
              <a:rPr lang="en-US" b="1" dirty="0">
                <a:latin typeface="+mn-lt"/>
              </a:rPr>
              <a:t>Zephyr for JIRA </a:t>
            </a:r>
            <a:r>
              <a:rPr lang="en-US" dirty="0">
                <a:latin typeface="+mn-lt"/>
              </a:rPr>
              <a:t>is a native application that exists in JIRA and brings quality test management capabilities to any JIRA project. </a:t>
            </a:r>
            <a:endParaRPr lang="en-US" dirty="0" smtClean="0">
              <a:latin typeface="+mn-lt"/>
            </a:endParaRPr>
          </a:p>
          <a:p>
            <a:r>
              <a:rPr lang="en-US" dirty="0" smtClean="0">
                <a:latin typeface="+mn-lt"/>
              </a:rPr>
              <a:t>When </a:t>
            </a:r>
            <a:r>
              <a:rPr lang="en-US" dirty="0">
                <a:latin typeface="+mn-lt"/>
              </a:rPr>
              <a:t>Zephyr is used with JIRA, the test can be created, viewed in any JIRA project, and executed immediately or as part of a testing cycle that may be linked to other issues. </a:t>
            </a:r>
            <a:endParaRPr lang="en-US" dirty="0" smtClean="0">
              <a:latin typeface="+mn-lt"/>
            </a:endParaRPr>
          </a:p>
          <a:p>
            <a:r>
              <a:rPr lang="en-US" dirty="0" smtClean="0">
                <a:latin typeface="+mn-lt"/>
              </a:rPr>
              <a:t>The </a:t>
            </a:r>
            <a:r>
              <a:rPr lang="en-US" dirty="0">
                <a:latin typeface="+mn-lt"/>
              </a:rPr>
              <a:t>detailed testing metrics can be tracked via customizable Zephyr gadgets</a:t>
            </a:r>
            <a:r>
              <a:rPr lang="en-US" dirty="0" smtClean="0">
                <a:latin typeface="+mn-lt"/>
              </a:rPr>
              <a:t>.</a:t>
            </a:r>
            <a:endParaRPr lang="en-US" dirty="0" smtClean="0">
              <a:latin typeface="+mn-lt"/>
            </a:endParaRPr>
          </a:p>
          <a:p>
            <a:endParaRPr lang="en-US" dirty="0">
              <a:latin typeface="+mn-lt"/>
            </a:endParaRPr>
          </a:p>
          <a:p>
            <a:pPr marL="0" indent="0">
              <a:buNone/>
            </a:pPr>
            <a:r>
              <a:rPr lang="en-US" b="1" dirty="0">
                <a:latin typeface="+mn-lt"/>
              </a:rPr>
              <a:t>Zephyr provides multiple deployment options:</a:t>
            </a:r>
            <a:endParaRPr lang="en-US" b="1" dirty="0">
              <a:latin typeface="+mn-lt"/>
            </a:endParaRPr>
          </a:p>
          <a:p>
            <a:r>
              <a:rPr lang="en-US" dirty="0">
                <a:latin typeface="+mn-lt"/>
              </a:rPr>
              <a:t>Zephyr for JIRA Cloud</a:t>
            </a:r>
            <a:endParaRPr lang="en-US" dirty="0">
              <a:latin typeface="+mn-lt"/>
            </a:endParaRPr>
          </a:p>
          <a:p>
            <a:r>
              <a:rPr lang="en-US" dirty="0">
                <a:latin typeface="+mn-lt"/>
              </a:rPr>
              <a:t>Zephyr for JIRA Server</a:t>
            </a:r>
            <a:endParaRPr lang="en-US" dirty="0">
              <a:latin typeface="+mn-lt"/>
            </a:endParaRPr>
          </a:p>
          <a:p>
            <a:r>
              <a:rPr lang="en-US" dirty="0">
                <a:latin typeface="+mn-lt"/>
              </a:rPr>
              <a:t>Zephyr for JIRA Data Center</a:t>
            </a:r>
            <a:endParaRPr lang="en-US" dirty="0">
              <a:latin typeface="+mn-lt"/>
            </a:endParaRPr>
          </a:p>
          <a:p>
            <a:endParaRPr lang="en-IN" dirty="0">
              <a:latin typeface="+mn-lt"/>
            </a:endParaRPr>
          </a:p>
        </p:txBody>
      </p:sp>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About Zephyr</a:t>
            </a:r>
            <a:endParaRPr lang="en-IN" dirty="0">
              <a:solidFill>
                <a:schemeClr val="tx1"/>
              </a:solidFill>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r>
              <a:rPr lang="en-US" dirty="0"/>
              <a:t>Features of Zephyr for JIRA</a:t>
            </a:r>
            <a:endParaRPr lang="en-US" dirty="0"/>
          </a:p>
        </p:txBody>
      </p:sp>
      <p:sp>
        <p:nvSpPr>
          <p:cNvPr id="5" name="Content Placeholder 4"/>
          <p:cNvSpPr>
            <a:spLocks noGrp="1"/>
          </p:cNvSpPr>
          <p:nvPr>
            <p:ph sz="half" idx="1"/>
          </p:nvPr>
        </p:nvSpPr>
        <p:spPr/>
        <p:txBody>
          <a:bodyPr/>
          <a:lstStyle/>
          <a:p>
            <a:r>
              <a:rPr lang="en-US" dirty="0">
                <a:latin typeface="+mn-lt"/>
              </a:rPr>
              <a:t>Native to JIRA allowing users to test right inside JIRA</a:t>
            </a:r>
            <a:endParaRPr lang="en-US" dirty="0">
              <a:latin typeface="+mn-lt"/>
            </a:endParaRPr>
          </a:p>
          <a:p>
            <a:pPr lvl="1"/>
            <a:r>
              <a:rPr lang="en-US" dirty="0">
                <a:latin typeface="+mn-lt"/>
              </a:rPr>
              <a:t>Testing is integrated into the project cycles and it enables you to track software quality and make empowered go/no-go decisions.</a:t>
            </a:r>
            <a:endParaRPr lang="en-US" dirty="0">
              <a:latin typeface="+mn-lt"/>
            </a:endParaRPr>
          </a:p>
          <a:p>
            <a:r>
              <a:rPr lang="en-US" dirty="0">
                <a:latin typeface="+mn-lt"/>
              </a:rPr>
              <a:t>Create, Plan, and Execute Tests</a:t>
            </a:r>
            <a:endParaRPr lang="en-US" dirty="0">
              <a:latin typeface="+mn-lt"/>
            </a:endParaRPr>
          </a:p>
          <a:p>
            <a:pPr lvl="1"/>
            <a:r>
              <a:rPr lang="en-US" dirty="0">
                <a:latin typeface="+mn-lt"/>
              </a:rPr>
              <a:t>Create, view, and modify test steps and attachments for individual tests. Build test execution cycles, execute the tests, and link defects to specific tests.</a:t>
            </a:r>
            <a:endParaRPr lang="en-US" dirty="0">
              <a:latin typeface="+mn-lt"/>
            </a:endParaRPr>
          </a:p>
          <a:p>
            <a:r>
              <a:rPr lang="en-US" dirty="0">
                <a:latin typeface="+mn-lt"/>
              </a:rPr>
              <a:t>Track Quality Metrics</a:t>
            </a:r>
            <a:endParaRPr lang="en-US" dirty="0">
              <a:latin typeface="+mn-lt"/>
            </a:endParaRPr>
          </a:p>
          <a:p>
            <a:pPr lvl="1"/>
            <a:r>
              <a:rPr lang="en-US" dirty="0">
                <a:latin typeface="+mn-lt"/>
              </a:rPr>
              <a:t>Zephyr provides easy-to-use dashboard which provides testing metrics on the testing activities throughout every project.</a:t>
            </a:r>
            <a:endParaRPr lang="en-US" dirty="0">
              <a:latin typeface="+mn-lt"/>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r>
              <a:rPr lang="en-US" dirty="0"/>
              <a:t>Adding Zephyr Plugin to Jira Cloud</a:t>
            </a:r>
            <a:endParaRPr lang="en-US" dirty="0"/>
          </a:p>
        </p:txBody>
      </p:sp>
      <p:sp>
        <p:nvSpPr>
          <p:cNvPr id="5" name="Content Placeholder 4"/>
          <p:cNvSpPr>
            <a:spLocks noGrp="1"/>
          </p:cNvSpPr>
          <p:nvPr>
            <p:ph sz="half" idx="1"/>
          </p:nvPr>
        </p:nvSpPr>
        <p:spPr/>
        <p:txBody>
          <a:bodyPr>
            <a:normAutofit/>
          </a:bodyPr>
          <a:lstStyle/>
          <a:p>
            <a:r>
              <a:rPr lang="en-US" sz="1800" dirty="0" smtClean="0">
                <a:latin typeface="+mn-lt"/>
              </a:rPr>
              <a:t>We need to add the Zephyr plugin to the Jira Board</a:t>
            </a:r>
            <a:endParaRPr lang="en-US" sz="1800" dirty="0" smtClean="0">
              <a:latin typeface="+mn-lt"/>
            </a:endParaRPr>
          </a:p>
          <a:p>
            <a:r>
              <a:rPr lang="en-US" sz="1800" dirty="0" smtClean="0">
                <a:latin typeface="+mn-lt"/>
              </a:rPr>
              <a:t>Go to Settings -&gt; Apps –&gt; Search for Zephyr in Marketplace -&gt; Add Free Trial</a:t>
            </a:r>
            <a:endParaRPr lang="en-US" sz="1800" dirty="0" smtClean="0">
              <a:latin typeface="+mn-lt"/>
            </a:endParaRPr>
          </a:p>
          <a:p>
            <a:endParaRPr lang="en-US" sz="1800" dirty="0">
              <a:latin typeface="+mn-lt"/>
            </a:endParaRPr>
          </a:p>
          <a:p>
            <a:endParaRPr lang="en-US" sz="1800" dirty="0" smtClean="0">
              <a:latin typeface="+mn-lt"/>
            </a:endParaRPr>
          </a:p>
          <a:p>
            <a:endParaRPr lang="en-US" sz="1800" dirty="0">
              <a:latin typeface="+mn-lt"/>
            </a:endParaRPr>
          </a:p>
          <a:p>
            <a:pPr>
              <a:buFont typeface="Wingdings" panose="05000000000000000000" pitchFamily="2" charset="2"/>
              <a:buChar char="v"/>
            </a:pPr>
            <a:r>
              <a:rPr lang="en-US" sz="1800" b="1" dirty="0" smtClean="0">
                <a:latin typeface="+mn-lt"/>
              </a:rPr>
              <a:t>Ensure that “Test” has been added as a Issues Type in Jira</a:t>
            </a:r>
            <a:endParaRPr lang="en-US" sz="1800" b="1" dirty="0" smtClean="0">
              <a:latin typeface="+mn-lt"/>
            </a:endParaRPr>
          </a:p>
          <a:p>
            <a:pPr lvl="1"/>
            <a:r>
              <a:rPr lang="en-IN" sz="1800" dirty="0" smtClean="0">
                <a:latin typeface="+mn-lt"/>
              </a:rPr>
              <a:t>Settings -&gt; Issues -&gt; Issue Type Scheme- &gt;Click Edit -&gt; Add Test to your project</a:t>
            </a:r>
            <a:endParaRPr lang="en-IN" sz="1800" dirty="0">
              <a:latin typeface="+mn-lt"/>
            </a:endParaRP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Create a Test</a:t>
            </a:r>
            <a:endParaRPr lang="en-IN" dirty="0">
              <a:solidFill>
                <a:schemeClr val="tx1"/>
              </a:solidFill>
            </a:endParaRPr>
          </a:p>
        </p:txBody>
      </p:sp>
      <p:sp>
        <p:nvSpPr>
          <p:cNvPr id="5" name="Content Placeholder 4"/>
          <p:cNvSpPr>
            <a:spLocks noGrp="1"/>
          </p:cNvSpPr>
          <p:nvPr>
            <p:ph sz="half" idx="1"/>
          </p:nvPr>
        </p:nvSpPr>
        <p:spPr>
          <a:xfrm>
            <a:off x="500644" y="855808"/>
            <a:ext cx="10622576" cy="4572241"/>
          </a:xfrm>
        </p:spPr>
        <p:txBody>
          <a:bodyPr>
            <a:normAutofit lnSpcReduction="10000"/>
          </a:bodyPr>
          <a:lstStyle/>
          <a:p>
            <a:r>
              <a:rPr lang="en-US" sz="1800" dirty="0">
                <a:latin typeface="+mn-lt"/>
              </a:rPr>
              <a:t>To create a test case (issue with type '</a:t>
            </a:r>
            <a:r>
              <a:rPr lang="en-US" sz="1800" b="1" dirty="0">
                <a:latin typeface="+mn-lt"/>
              </a:rPr>
              <a:t>test</a:t>
            </a:r>
            <a:r>
              <a:rPr lang="en-US" sz="1800" dirty="0">
                <a:latin typeface="+mn-lt"/>
              </a:rPr>
              <a:t>'), simply click on the '</a:t>
            </a:r>
            <a:r>
              <a:rPr lang="en-US" sz="1800" b="1" dirty="0">
                <a:latin typeface="+mn-lt"/>
              </a:rPr>
              <a:t>Create</a:t>
            </a:r>
            <a:r>
              <a:rPr lang="en-US" sz="1800" dirty="0">
                <a:latin typeface="+mn-lt"/>
              </a:rPr>
              <a:t>' button located in the top menu navigation</a:t>
            </a:r>
            <a:r>
              <a:rPr lang="en-US" sz="1800" dirty="0" smtClean="0">
                <a:latin typeface="+mn-lt"/>
              </a:rPr>
              <a:t>.</a:t>
            </a:r>
            <a:endParaRPr lang="en-US" sz="1800" dirty="0" smtClean="0">
              <a:latin typeface="+mn-lt"/>
            </a:endParaRPr>
          </a:p>
          <a:p>
            <a:r>
              <a:rPr lang="en-US" sz="1800" dirty="0">
                <a:latin typeface="+mn-lt"/>
              </a:rPr>
              <a:t>The '</a:t>
            </a:r>
            <a:r>
              <a:rPr lang="en-US" sz="1800" b="1" dirty="0">
                <a:latin typeface="+mn-lt"/>
              </a:rPr>
              <a:t>Create Issue</a:t>
            </a:r>
            <a:r>
              <a:rPr lang="en-US" sz="1800" dirty="0">
                <a:latin typeface="+mn-lt"/>
              </a:rPr>
              <a:t>' module will appear with the following fields when creating a test case. The required fields for a test case are the following</a:t>
            </a:r>
            <a:r>
              <a:rPr lang="en-US" sz="1800" dirty="0" smtClean="0">
                <a:latin typeface="+mn-lt"/>
              </a:rPr>
              <a:t>:</a:t>
            </a:r>
            <a:endParaRPr lang="en-US" sz="1800" dirty="0" smtClean="0">
              <a:latin typeface="+mn-lt"/>
            </a:endParaRPr>
          </a:p>
          <a:p>
            <a:pPr lvl="1"/>
            <a:r>
              <a:rPr lang="en-US" sz="1800" b="1" dirty="0" smtClean="0">
                <a:latin typeface="+mn-lt"/>
              </a:rPr>
              <a:t>Project</a:t>
            </a:r>
            <a:r>
              <a:rPr lang="en-US" sz="1800" dirty="0">
                <a:latin typeface="+mn-lt"/>
              </a:rPr>
              <a:t> – The name of the project that the test case is being placed after creation.</a:t>
            </a:r>
            <a:endParaRPr lang="en-US" sz="1800" dirty="0">
              <a:latin typeface="+mn-lt"/>
            </a:endParaRPr>
          </a:p>
          <a:p>
            <a:pPr lvl="1"/>
            <a:r>
              <a:rPr lang="en-US" sz="1800" b="1" dirty="0">
                <a:latin typeface="+mn-lt"/>
              </a:rPr>
              <a:t>Issue Type</a:t>
            </a:r>
            <a:r>
              <a:rPr lang="en-US" sz="1800" dirty="0">
                <a:latin typeface="+mn-lt"/>
              </a:rPr>
              <a:t> – The issue type for the test case (in this case, we'll select '</a:t>
            </a:r>
            <a:r>
              <a:rPr lang="en-US" sz="1800" b="1" dirty="0">
                <a:latin typeface="+mn-lt"/>
              </a:rPr>
              <a:t>Test</a:t>
            </a:r>
            <a:r>
              <a:rPr lang="en-US" sz="1800" dirty="0">
                <a:latin typeface="+mn-lt"/>
              </a:rPr>
              <a:t>').</a:t>
            </a:r>
            <a:endParaRPr lang="en-US" sz="1800" dirty="0">
              <a:latin typeface="+mn-lt"/>
            </a:endParaRPr>
          </a:p>
          <a:p>
            <a:pPr lvl="1"/>
            <a:r>
              <a:rPr lang="en-US" sz="1800" b="1" dirty="0">
                <a:latin typeface="+mn-lt"/>
              </a:rPr>
              <a:t>Summary</a:t>
            </a:r>
            <a:r>
              <a:rPr lang="en-US" sz="1800" dirty="0">
                <a:latin typeface="+mn-lt"/>
              </a:rPr>
              <a:t> – The name/title for the test case.</a:t>
            </a:r>
            <a:endParaRPr lang="en-US" sz="1800" dirty="0">
              <a:latin typeface="+mn-lt"/>
            </a:endParaRPr>
          </a:p>
          <a:p>
            <a:pPr lvl="1"/>
            <a:r>
              <a:rPr lang="en-US" sz="1800" b="1" dirty="0">
                <a:latin typeface="+mn-lt"/>
              </a:rPr>
              <a:t>Reporter</a:t>
            </a:r>
            <a:r>
              <a:rPr lang="en-US" sz="1800" dirty="0">
                <a:latin typeface="+mn-lt"/>
              </a:rPr>
              <a:t> – The name of the individual creating the test case.</a:t>
            </a:r>
            <a:endParaRPr lang="en-US" sz="1800" dirty="0">
              <a:latin typeface="+mn-lt"/>
            </a:endParaRPr>
          </a:p>
          <a:p>
            <a:endParaRPr lang="en-US" sz="1800" b="1" dirty="0">
              <a:latin typeface="+mn-lt"/>
            </a:endParaRPr>
          </a:p>
          <a:p>
            <a:r>
              <a:rPr lang="en-US" sz="1800" dirty="0">
                <a:latin typeface="+mn-lt"/>
              </a:rPr>
              <a:t>Once the required fields are filled out, users can scroll to the bottom of the interface and create test steps for the test case which includes the following information for each test step</a:t>
            </a:r>
            <a:r>
              <a:rPr lang="en-US" sz="1800" dirty="0" smtClean="0">
                <a:latin typeface="+mn-lt"/>
              </a:rPr>
              <a:t>:</a:t>
            </a:r>
            <a:endParaRPr lang="en-US" sz="1800" dirty="0" smtClean="0">
              <a:latin typeface="+mn-lt"/>
            </a:endParaRPr>
          </a:p>
          <a:p>
            <a:pPr lvl="1"/>
            <a:r>
              <a:rPr lang="en-US" sz="1800" b="1" dirty="0" smtClean="0">
                <a:latin typeface="+mn-lt"/>
              </a:rPr>
              <a:t>Test </a:t>
            </a:r>
            <a:r>
              <a:rPr lang="en-US" sz="1800" b="1" dirty="0">
                <a:latin typeface="+mn-lt"/>
              </a:rPr>
              <a:t>Step</a:t>
            </a:r>
            <a:r>
              <a:rPr lang="en-US" sz="1800" dirty="0">
                <a:latin typeface="+mn-lt"/>
              </a:rPr>
              <a:t> – Description of the test step/action that needs to be performed for this individual step.</a:t>
            </a:r>
            <a:endParaRPr lang="en-US" sz="1800" dirty="0">
              <a:latin typeface="+mn-lt"/>
            </a:endParaRPr>
          </a:p>
          <a:p>
            <a:pPr lvl="1"/>
            <a:r>
              <a:rPr lang="en-US" sz="1800" b="1" dirty="0">
                <a:latin typeface="+mn-lt"/>
              </a:rPr>
              <a:t>Test Data</a:t>
            </a:r>
            <a:r>
              <a:rPr lang="en-US" sz="1800" dirty="0">
                <a:latin typeface="+mn-lt"/>
              </a:rPr>
              <a:t> – Any data that is required for the test step to be performed.</a:t>
            </a:r>
            <a:endParaRPr lang="en-US" sz="1800" dirty="0">
              <a:latin typeface="+mn-lt"/>
            </a:endParaRPr>
          </a:p>
          <a:p>
            <a:pPr lvl="1"/>
            <a:r>
              <a:rPr lang="en-US" sz="1800" b="1" dirty="0">
                <a:latin typeface="+mn-lt"/>
              </a:rPr>
              <a:t>Expected Result</a:t>
            </a:r>
            <a:r>
              <a:rPr lang="en-US" sz="1800" dirty="0">
                <a:latin typeface="+mn-lt"/>
              </a:rPr>
              <a:t> – The expected result after performing the actions for this individual step.</a:t>
            </a:r>
            <a:endParaRPr lang="en-US" sz="1800" dirty="0">
              <a:latin typeface="+mn-lt"/>
            </a:endParaRPr>
          </a:p>
          <a:p>
            <a:endParaRPr lang="en-IN" sz="1800" dirty="0">
              <a:latin typeface="+mn-lt"/>
            </a:endParaRPr>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Modify And View a Test Case</a:t>
            </a:r>
            <a:endParaRPr lang="en-IN" dirty="0">
              <a:solidFill>
                <a:schemeClr val="tx1"/>
              </a:solidFill>
            </a:endParaRPr>
          </a:p>
        </p:txBody>
      </p:sp>
      <p:sp>
        <p:nvSpPr>
          <p:cNvPr id="5" name="Content Placeholder 4"/>
          <p:cNvSpPr>
            <a:spLocks noGrp="1"/>
          </p:cNvSpPr>
          <p:nvPr>
            <p:ph sz="half" idx="1"/>
          </p:nvPr>
        </p:nvSpPr>
        <p:spPr/>
        <p:txBody>
          <a:bodyPr/>
          <a:lstStyle/>
          <a:p>
            <a:r>
              <a:rPr lang="en-US" sz="2800" dirty="0" smtClean="0">
                <a:latin typeface="+mn-lt"/>
              </a:rPr>
              <a:t>We can edit and modify the already written test cases</a:t>
            </a:r>
            <a:endParaRPr lang="en-US" sz="2800" dirty="0" smtClean="0">
              <a:latin typeface="+mn-lt"/>
            </a:endParaRPr>
          </a:p>
          <a:p>
            <a:r>
              <a:rPr lang="en-US" sz="2800" dirty="0" smtClean="0">
                <a:latin typeface="+mn-lt"/>
              </a:rPr>
              <a:t>Search for Test Cases – Go to Filters . And click as below </a:t>
            </a:r>
            <a:endParaRPr lang="en-US" sz="2800" dirty="0" smtClean="0">
              <a:latin typeface="+mn-lt"/>
            </a:endParaRPr>
          </a:p>
          <a:p>
            <a:endParaRPr lang="en-US" sz="2800" dirty="0" smtClean="0">
              <a:latin typeface="+mn-lt"/>
            </a:endParaRPr>
          </a:p>
          <a:p>
            <a:endParaRPr lang="en-US" sz="2800" dirty="0" smtClean="0">
              <a:latin typeface="+mn-lt"/>
            </a:endParaRPr>
          </a:p>
          <a:p>
            <a:endParaRPr lang="en-US" sz="2800" dirty="0" smtClean="0">
              <a:latin typeface="+mn-lt"/>
            </a:endParaRPr>
          </a:p>
          <a:p>
            <a:endParaRPr lang="en-US" sz="2800" dirty="0" smtClean="0">
              <a:latin typeface="+mn-lt"/>
            </a:endParaRPr>
          </a:p>
          <a:p>
            <a:endParaRPr lang="en-US" sz="2800" dirty="0" smtClean="0">
              <a:latin typeface="+mn-lt"/>
            </a:endParaRPr>
          </a:p>
          <a:p>
            <a:r>
              <a:rPr lang="en-US" sz="2800" dirty="0" smtClean="0">
                <a:latin typeface="+mn-lt"/>
              </a:rPr>
              <a:t>Select Issue Type as “Test” . You will see all the test Cases.</a:t>
            </a:r>
            <a:endParaRPr lang="en-US" sz="2800" dirty="0" smtClean="0">
              <a:latin typeface="+mn-lt"/>
            </a:endParaRPr>
          </a:p>
          <a:p>
            <a:r>
              <a:rPr lang="en-US" sz="2800" dirty="0" smtClean="0">
                <a:latin typeface="+mn-lt"/>
              </a:rPr>
              <a:t>Click on any , and you will be able to edit the same.</a:t>
            </a:r>
            <a:endParaRPr lang="en-US" sz="2800" dirty="0" smtClean="0">
              <a:latin typeface="+mn-lt"/>
            </a:endParaRPr>
          </a:p>
          <a:p>
            <a:pPr lvl="1"/>
            <a:endParaRPr lang="en-US" sz="1800" dirty="0" smtClean="0">
              <a:latin typeface="+mn-lt"/>
            </a:endParaRPr>
          </a:p>
          <a:p>
            <a:endParaRPr lang="en-US" sz="2000" dirty="0">
              <a:latin typeface="+mn-lt"/>
            </a:endParaRPr>
          </a:p>
        </p:txBody>
      </p:sp>
      <p:pic>
        <p:nvPicPr>
          <p:cNvPr id="2" name="Picture 1"/>
          <p:cNvPicPr>
            <a:picLocks noChangeAspect="1"/>
          </p:cNvPicPr>
          <p:nvPr/>
        </p:nvPicPr>
        <p:blipFill>
          <a:blip r:embed="rId1"/>
          <a:stretch>
            <a:fillRect/>
          </a:stretch>
        </p:blipFill>
        <p:spPr>
          <a:xfrm>
            <a:off x="1120486" y="2768311"/>
            <a:ext cx="6968362" cy="1734416"/>
          </a:xfrm>
          <a:prstGeom prst="rect">
            <a:avLst/>
          </a:prstGeom>
        </p:spPr>
      </p:pic>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Create a Test Cycle</a:t>
            </a:r>
            <a:endParaRPr lang="en-IN" dirty="0">
              <a:solidFill>
                <a:schemeClr val="tx1"/>
              </a:solidFill>
            </a:endParaRPr>
          </a:p>
        </p:txBody>
      </p:sp>
      <p:sp>
        <p:nvSpPr>
          <p:cNvPr id="5" name="Content Placeholder 4"/>
          <p:cNvSpPr>
            <a:spLocks noGrp="1"/>
          </p:cNvSpPr>
          <p:nvPr>
            <p:ph sz="half" idx="1"/>
          </p:nvPr>
        </p:nvSpPr>
        <p:spPr>
          <a:xfrm>
            <a:off x="500645" y="853609"/>
            <a:ext cx="10622576" cy="5017785"/>
          </a:xfrm>
        </p:spPr>
        <p:txBody>
          <a:bodyPr>
            <a:normAutofit/>
          </a:bodyPr>
          <a:lstStyle/>
          <a:p>
            <a:r>
              <a:rPr lang="en-US" sz="1800" dirty="0"/>
              <a:t>Test Cycles are used to set up and execute tests in a structured manner. This allows tests to be grouped logically and executed in a structured fashion. It also allows for the tracking of progress and reporting of quality metrics</a:t>
            </a:r>
            <a:r>
              <a:rPr lang="en-US" sz="1800" dirty="0" smtClean="0"/>
              <a:t>.</a:t>
            </a:r>
            <a:endParaRPr lang="en-US" sz="1800" dirty="0" smtClean="0"/>
          </a:p>
          <a:p>
            <a:endParaRPr lang="en-US" sz="1800" dirty="0"/>
          </a:p>
          <a:p>
            <a:r>
              <a:rPr lang="en-US" sz="1800" dirty="0"/>
              <a:t>To create a test cycle, click on the '</a:t>
            </a:r>
            <a:r>
              <a:rPr lang="en-US" sz="1800" b="1" dirty="0"/>
              <a:t>Cycle Summary</a:t>
            </a:r>
            <a:r>
              <a:rPr lang="en-US" sz="1800" dirty="0"/>
              <a:t>' tab </a:t>
            </a:r>
            <a:endParaRPr lang="en-US" sz="1800" dirty="0"/>
          </a:p>
          <a:p>
            <a:endParaRPr lang="en-US" sz="1800" dirty="0"/>
          </a:p>
          <a:p>
            <a:endParaRPr lang="en-US" sz="1800" dirty="0"/>
          </a:p>
        </p:txBody>
      </p:sp>
      <p:pic>
        <p:nvPicPr>
          <p:cNvPr id="2" name="Picture 1"/>
          <p:cNvPicPr>
            <a:picLocks noChangeAspect="1"/>
          </p:cNvPicPr>
          <p:nvPr/>
        </p:nvPicPr>
        <p:blipFill>
          <a:blip r:embed="rId1"/>
          <a:stretch>
            <a:fillRect/>
          </a:stretch>
        </p:blipFill>
        <p:spPr>
          <a:xfrm>
            <a:off x="5929314" y="1853478"/>
            <a:ext cx="6157912" cy="3601883"/>
          </a:xfrm>
          <a:prstGeom prst="rect">
            <a:avLst/>
          </a:prstGeom>
        </p:spPr>
      </p:pic>
      <p:sp>
        <p:nvSpPr>
          <p:cNvPr id="4" name="TextBox 3"/>
          <p:cNvSpPr txBox="1"/>
          <p:nvPr/>
        </p:nvSpPr>
        <p:spPr>
          <a:xfrm>
            <a:off x="603618" y="1976548"/>
            <a:ext cx="5325695" cy="45243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b="1" dirty="0"/>
              <a:t>Version</a:t>
            </a:r>
            <a:r>
              <a:rPr lang="en-US" dirty="0"/>
              <a:t> – Shows the list of versions that exist for this project.</a:t>
            </a:r>
            <a:endParaRPr lang="en-US" dirty="0"/>
          </a:p>
          <a:p>
            <a:r>
              <a:rPr lang="en-US" b="1" dirty="0"/>
              <a:t>Name</a:t>
            </a:r>
            <a:r>
              <a:rPr lang="en-US" dirty="0"/>
              <a:t> – Name of the test cycle (this is a required field).</a:t>
            </a:r>
            <a:endParaRPr lang="en-US" dirty="0"/>
          </a:p>
          <a:p>
            <a:r>
              <a:rPr lang="en-US" b="1" dirty="0"/>
              <a:t>Description</a:t>
            </a:r>
            <a:r>
              <a:rPr lang="en-US" dirty="0"/>
              <a:t> – A description given for the test cycle.</a:t>
            </a:r>
            <a:endParaRPr lang="en-US" dirty="0"/>
          </a:p>
          <a:p>
            <a:r>
              <a:rPr lang="en-US" b="1" dirty="0"/>
              <a:t>Build</a:t>
            </a:r>
            <a:r>
              <a:rPr lang="en-US" dirty="0"/>
              <a:t> – This is an informational field only for further detail on the build (if any).</a:t>
            </a:r>
            <a:endParaRPr lang="en-US" dirty="0"/>
          </a:p>
          <a:p>
            <a:r>
              <a:rPr lang="en-US" b="1" dirty="0"/>
              <a:t>Environment </a:t>
            </a:r>
            <a:r>
              <a:rPr lang="en-US" dirty="0"/>
              <a:t>– This is an information field only for further detail on the environment (if any).</a:t>
            </a:r>
            <a:endParaRPr lang="en-US" dirty="0"/>
          </a:p>
          <a:p>
            <a:r>
              <a:rPr lang="en-US" b="1" dirty="0"/>
              <a:t>From</a:t>
            </a:r>
            <a:r>
              <a:rPr lang="en-US" dirty="0"/>
              <a:t> – The start date of the testing cycle.</a:t>
            </a:r>
            <a:endParaRPr lang="en-US" dirty="0"/>
          </a:p>
          <a:p>
            <a:r>
              <a:rPr lang="en-US" b="1" dirty="0"/>
              <a:t>To</a:t>
            </a:r>
            <a:r>
              <a:rPr lang="en-US" dirty="0"/>
              <a:t> – The end date of the testing cycle. The end date is not necessarily enforced (users can continue adding tests to the test cycle and executing them beyond this date).</a:t>
            </a:r>
            <a:endParaRPr lang="en-US" dirty="0"/>
          </a:p>
          <a:p>
            <a:endParaRPr lang="en-US" dirty="0"/>
          </a:p>
          <a:p>
            <a:endParaRPr lang="en-IN" dirty="0"/>
          </a:p>
          <a:p>
            <a:pPr marL="0" marR="0"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Adding Test to Test Cycle</a:t>
            </a:r>
            <a:endParaRPr lang="en-IN" dirty="0">
              <a:solidFill>
                <a:schemeClr val="tx1"/>
              </a:solidFill>
            </a:endParaRPr>
          </a:p>
        </p:txBody>
      </p:sp>
      <p:sp>
        <p:nvSpPr>
          <p:cNvPr id="5" name="Content Placeholder 4"/>
          <p:cNvSpPr>
            <a:spLocks noGrp="1"/>
          </p:cNvSpPr>
          <p:nvPr>
            <p:ph sz="half" idx="1"/>
          </p:nvPr>
        </p:nvSpPr>
        <p:spPr>
          <a:xfrm>
            <a:off x="528354" y="1296955"/>
            <a:ext cx="10622576" cy="5017785"/>
          </a:xfrm>
        </p:spPr>
        <p:txBody>
          <a:bodyPr/>
          <a:lstStyle/>
          <a:p>
            <a:r>
              <a:rPr lang="en-US" b="1" dirty="0" smtClean="0"/>
              <a:t>It means to assign the Test cases that you would like to execute for a particular cycle </a:t>
            </a:r>
            <a:r>
              <a:rPr lang="en-US" b="1" dirty="0" err="1" smtClean="0"/>
              <a:t>eg</a:t>
            </a:r>
            <a:r>
              <a:rPr lang="en-US" b="1" dirty="0" smtClean="0"/>
              <a:t>(Regression , </a:t>
            </a:r>
            <a:r>
              <a:rPr lang="en-US" b="1" dirty="0" err="1" smtClean="0"/>
              <a:t>adhoc</a:t>
            </a:r>
            <a:r>
              <a:rPr lang="en-US" b="1" dirty="0" smtClean="0"/>
              <a:t>, negative)</a:t>
            </a:r>
            <a:endParaRPr lang="en-US" dirty="0"/>
          </a:p>
          <a:p>
            <a:endParaRPr lang="en-US" dirty="0"/>
          </a:p>
          <a:p>
            <a:pPr marL="0" indent="0">
              <a:buNone/>
            </a:pPr>
            <a:endParaRPr lang="en-US" dirty="0"/>
          </a:p>
          <a:p>
            <a:pPr marL="0" indent="0">
              <a:buNone/>
            </a:pPr>
            <a:endParaRPr lang="en-US" dirty="0"/>
          </a:p>
          <a:p>
            <a:endParaRPr lang="en-US" dirty="0"/>
          </a:p>
          <a:p>
            <a:endParaRPr lang="en-IN" dirty="0"/>
          </a:p>
        </p:txBody>
      </p:sp>
      <p:pic>
        <p:nvPicPr>
          <p:cNvPr id="2" name="Picture 1"/>
          <p:cNvPicPr>
            <a:picLocks noChangeAspect="1"/>
          </p:cNvPicPr>
          <p:nvPr/>
        </p:nvPicPr>
        <p:blipFill>
          <a:blip r:embed="rId1"/>
          <a:stretch>
            <a:fillRect/>
          </a:stretch>
        </p:blipFill>
        <p:spPr>
          <a:xfrm>
            <a:off x="1046964" y="2083809"/>
            <a:ext cx="9246964" cy="4650259"/>
          </a:xfrm>
          <a:prstGeom prst="rect">
            <a:avLst/>
          </a:prstGeom>
        </p:spPr>
      </p:pic>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Assigning Test Execution</a:t>
            </a:r>
            <a:endParaRPr lang="en-IN" dirty="0">
              <a:solidFill>
                <a:schemeClr val="tx1"/>
              </a:solidFill>
            </a:endParaRPr>
          </a:p>
        </p:txBody>
      </p:sp>
      <p:sp>
        <p:nvSpPr>
          <p:cNvPr id="5" name="Content Placeholder 4"/>
          <p:cNvSpPr>
            <a:spLocks noGrp="1"/>
          </p:cNvSpPr>
          <p:nvPr>
            <p:ph sz="half" idx="1"/>
          </p:nvPr>
        </p:nvSpPr>
        <p:spPr/>
        <p:txBody>
          <a:bodyPr>
            <a:normAutofit/>
          </a:bodyPr>
          <a:lstStyle/>
          <a:p>
            <a:r>
              <a:rPr lang="en-US" sz="1800" dirty="0">
                <a:latin typeface="+mn-lt"/>
              </a:rPr>
              <a:t>On the '</a:t>
            </a:r>
            <a:r>
              <a:rPr lang="en-US" sz="1800" b="1" dirty="0">
                <a:latin typeface="+mn-lt"/>
              </a:rPr>
              <a:t>Cycle Summary</a:t>
            </a:r>
            <a:r>
              <a:rPr lang="en-US" sz="1800" dirty="0">
                <a:latin typeface="+mn-lt"/>
              </a:rPr>
              <a:t>' page, click on the '</a:t>
            </a:r>
            <a:r>
              <a:rPr lang="en-US" sz="1800" b="1" dirty="0">
                <a:latin typeface="+mn-lt"/>
              </a:rPr>
              <a:t>E</a:t>
            </a:r>
            <a:r>
              <a:rPr lang="en-US" sz="1800" dirty="0">
                <a:latin typeface="+mn-lt"/>
              </a:rPr>
              <a:t>' button for the individual test case that you want to assign</a:t>
            </a:r>
            <a:r>
              <a:rPr lang="en-US" sz="1800" dirty="0" smtClean="0">
                <a:latin typeface="+mn-lt"/>
              </a:rPr>
              <a:t>.</a:t>
            </a:r>
            <a:endParaRPr lang="en-US" sz="1800" dirty="0" smtClean="0">
              <a:latin typeface="+mn-lt"/>
            </a:endParaRPr>
          </a:p>
          <a:p>
            <a:r>
              <a:rPr lang="en-US" sz="1800" dirty="0">
                <a:latin typeface="+mn-lt"/>
              </a:rPr>
              <a:t>This displays the test execution for that specific test and you can assign the test execution to a different user if need be. This can be done by using the '</a:t>
            </a:r>
            <a:r>
              <a:rPr lang="en-US" sz="1800" b="1" dirty="0">
                <a:latin typeface="+mn-lt"/>
              </a:rPr>
              <a:t>Assigned To</a:t>
            </a:r>
            <a:r>
              <a:rPr lang="en-US" sz="1800" dirty="0">
                <a:latin typeface="+mn-lt"/>
              </a:rPr>
              <a:t>' drop-down list and selecting a different </a:t>
            </a:r>
            <a:r>
              <a:rPr lang="en-US" sz="1800" dirty="0" err="1">
                <a:latin typeface="+mn-lt"/>
              </a:rPr>
              <a:t>user.After</a:t>
            </a:r>
            <a:r>
              <a:rPr lang="en-US" sz="1800" dirty="0">
                <a:latin typeface="+mn-lt"/>
              </a:rPr>
              <a:t> selecting a different user, it will </a:t>
            </a:r>
            <a:r>
              <a:rPr lang="en-US" sz="1800" dirty="0" err="1">
                <a:latin typeface="+mn-lt"/>
              </a:rPr>
              <a:t>autosave</a:t>
            </a:r>
            <a:r>
              <a:rPr lang="en-US" sz="1800" dirty="0">
                <a:latin typeface="+mn-lt"/>
              </a:rPr>
              <a:t> the test execution.</a:t>
            </a:r>
            <a:endParaRPr lang="en-US" sz="1800" dirty="0">
              <a:latin typeface="+mn-lt"/>
            </a:endParaRPr>
          </a:p>
          <a:p>
            <a:br>
              <a:rPr lang="en-IN" sz="1800" dirty="0">
                <a:latin typeface="+mn-lt"/>
              </a:rPr>
            </a:br>
            <a:endParaRPr lang="en-IN" sz="1800" dirty="0">
              <a:latin typeface="+mn-lt"/>
            </a:endParaRPr>
          </a:p>
        </p:txBody>
      </p:sp>
      <p:pic>
        <p:nvPicPr>
          <p:cNvPr id="2" name="Picture 1"/>
          <p:cNvPicPr>
            <a:picLocks noChangeAspect="1"/>
          </p:cNvPicPr>
          <p:nvPr/>
        </p:nvPicPr>
        <p:blipFill>
          <a:blip r:embed="rId1"/>
          <a:stretch>
            <a:fillRect/>
          </a:stretch>
        </p:blipFill>
        <p:spPr>
          <a:xfrm>
            <a:off x="946872" y="3062960"/>
            <a:ext cx="6132801" cy="3407112"/>
          </a:xfrm>
          <a:prstGeom prst="rect">
            <a:avLst/>
          </a:prstGeom>
        </p:spPr>
      </p:pic>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Executing Test Case</a:t>
            </a:r>
            <a:endParaRPr lang="en-IN" dirty="0">
              <a:solidFill>
                <a:schemeClr val="tx1"/>
              </a:solidFill>
            </a:endParaRPr>
          </a:p>
        </p:txBody>
      </p:sp>
      <p:sp>
        <p:nvSpPr>
          <p:cNvPr id="5" name="Content Placeholder 4"/>
          <p:cNvSpPr>
            <a:spLocks noGrp="1"/>
          </p:cNvSpPr>
          <p:nvPr>
            <p:ph sz="half" idx="1"/>
          </p:nvPr>
        </p:nvSpPr>
        <p:spPr>
          <a:xfrm>
            <a:off x="528354" y="1138335"/>
            <a:ext cx="10622576" cy="5176405"/>
          </a:xfrm>
        </p:spPr>
        <p:txBody>
          <a:bodyPr>
            <a:normAutofit/>
          </a:bodyPr>
          <a:lstStyle/>
          <a:p>
            <a:pPr>
              <a:buNone/>
            </a:pPr>
            <a:endParaRPr lang="en-US" sz="1800" dirty="0">
              <a:latin typeface="+mn-lt"/>
            </a:endParaRPr>
          </a:p>
          <a:p>
            <a:r>
              <a:rPr lang="en-US" sz="1800" dirty="0">
                <a:latin typeface="+mn-lt"/>
              </a:rPr>
              <a:t>Users can quick execute test cases by using the drop-down list in the '</a:t>
            </a:r>
            <a:r>
              <a:rPr lang="en-US" sz="1800" b="1" dirty="0">
                <a:latin typeface="+mn-lt"/>
              </a:rPr>
              <a:t>Status</a:t>
            </a:r>
            <a:r>
              <a:rPr lang="en-US" sz="1800" dirty="0">
                <a:latin typeface="+mn-lt"/>
              </a:rPr>
              <a:t>' column of the test execution table within the testing cycle. Users can also execute their test cases in further detail by clicking on the '</a:t>
            </a:r>
            <a:r>
              <a:rPr lang="en-US" sz="1800" b="1" dirty="0">
                <a:latin typeface="+mn-lt"/>
              </a:rPr>
              <a:t>E</a:t>
            </a:r>
            <a:r>
              <a:rPr lang="en-US" sz="1800" dirty="0">
                <a:latin typeface="+mn-lt"/>
              </a:rPr>
              <a:t>' button for the individual test that needs to be executed</a:t>
            </a:r>
            <a:r>
              <a:rPr lang="en-US" sz="1800" dirty="0" smtClean="0">
                <a:latin typeface="+mn-lt"/>
              </a:rPr>
              <a:t>.</a:t>
            </a:r>
            <a:endParaRPr lang="en-US" sz="1800" dirty="0" smtClean="0">
              <a:latin typeface="+mn-lt"/>
            </a:endParaRPr>
          </a:p>
          <a:p>
            <a:r>
              <a:rPr lang="en-US" sz="1800" dirty="0">
                <a:latin typeface="+mn-lt"/>
              </a:rPr>
              <a:t>After clicking on the '</a:t>
            </a:r>
            <a:r>
              <a:rPr lang="en-US" sz="1800" b="1" dirty="0">
                <a:latin typeface="+mn-lt"/>
              </a:rPr>
              <a:t>E</a:t>
            </a:r>
            <a:r>
              <a:rPr lang="en-US" sz="1800" dirty="0">
                <a:latin typeface="+mn-lt"/>
              </a:rPr>
              <a:t>' button, users can execute the entire test case by simply changing and updating the execution status of the test case. This can be done by using the '</a:t>
            </a:r>
            <a:r>
              <a:rPr lang="en-US" sz="1800" b="1" dirty="0">
                <a:latin typeface="+mn-lt"/>
              </a:rPr>
              <a:t>Execution Status</a:t>
            </a:r>
            <a:r>
              <a:rPr lang="en-US" sz="1800" dirty="0">
                <a:latin typeface="+mn-lt"/>
              </a:rPr>
              <a:t>' drop-down list and selecting one the statuses listed. This will execute the test case</a:t>
            </a:r>
            <a:r>
              <a:rPr lang="en-US" sz="1800" dirty="0" smtClean="0">
                <a:latin typeface="+mn-lt"/>
              </a:rPr>
              <a:t>.</a:t>
            </a:r>
            <a:endParaRPr lang="en-US" sz="1800" dirty="0" smtClean="0">
              <a:latin typeface="+mn-lt"/>
            </a:endParaRPr>
          </a:p>
          <a:p>
            <a:r>
              <a:rPr lang="en-US" sz="1800" dirty="0">
                <a:latin typeface="+mn-lt"/>
              </a:rPr>
              <a:t>Users are also able to execute not only the entire test case but the individual test steps as well. Simply scroll down until you see the Test Details sections and then click on the drop-down list in the '</a:t>
            </a:r>
            <a:r>
              <a:rPr lang="en-US" sz="1800" b="1" dirty="0">
                <a:latin typeface="+mn-lt"/>
              </a:rPr>
              <a:t>Status</a:t>
            </a:r>
            <a:r>
              <a:rPr lang="en-US" sz="1800" dirty="0">
                <a:latin typeface="+mn-lt"/>
              </a:rPr>
              <a:t>' column for the individual test </a:t>
            </a:r>
            <a:r>
              <a:rPr lang="en-US" sz="1800" dirty="0" err="1">
                <a:latin typeface="+mn-lt"/>
              </a:rPr>
              <a:t>step.Select</a:t>
            </a:r>
            <a:r>
              <a:rPr lang="en-US" sz="1800" dirty="0">
                <a:latin typeface="+mn-lt"/>
              </a:rPr>
              <a:t> and update the status of the test step and this will execute the individual test step.</a:t>
            </a:r>
            <a:endParaRPr lang="en-US" sz="1800" dirty="0">
              <a:latin typeface="+mn-lt"/>
            </a:endParaRPr>
          </a:p>
          <a:p>
            <a:endParaRPr lang="en-US" sz="1800" dirty="0">
              <a:latin typeface="+mn-lt"/>
            </a:endParaRPr>
          </a:p>
          <a:p>
            <a:pPr>
              <a:buNone/>
            </a:pPr>
            <a:endParaRPr lang="en-IN" sz="1800" dirty="0">
              <a:latin typeface="+mn-lt"/>
            </a:endParaRPr>
          </a:p>
        </p:txBody>
      </p:sp>
      <p:pic>
        <p:nvPicPr>
          <p:cNvPr id="2" name="Picture 1"/>
          <p:cNvPicPr>
            <a:picLocks noChangeAspect="1"/>
          </p:cNvPicPr>
          <p:nvPr/>
        </p:nvPicPr>
        <p:blipFill>
          <a:blip r:embed="rId1"/>
          <a:stretch>
            <a:fillRect/>
          </a:stretch>
        </p:blipFill>
        <p:spPr>
          <a:xfrm>
            <a:off x="603618" y="4109172"/>
            <a:ext cx="6905625" cy="2352675"/>
          </a:xfrm>
          <a:prstGeom prst="rect">
            <a:avLst/>
          </a:prstGeom>
        </p:spPr>
      </p:pic>
      <p:pic>
        <p:nvPicPr>
          <p:cNvPr id="4" name="Picture 3"/>
          <p:cNvPicPr>
            <a:picLocks noChangeAspect="1"/>
          </p:cNvPicPr>
          <p:nvPr/>
        </p:nvPicPr>
        <p:blipFill>
          <a:blip r:embed="rId2"/>
          <a:stretch>
            <a:fillRect/>
          </a:stretch>
        </p:blipFill>
        <p:spPr>
          <a:xfrm>
            <a:off x="7584507" y="3945514"/>
            <a:ext cx="4505325" cy="3400425"/>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547015" y="1138334"/>
            <a:ext cx="11349516" cy="5719665"/>
          </a:xfrm>
        </p:spPr>
        <p:txBody>
          <a:bodyPr>
            <a:normAutofit/>
          </a:bodyPr>
          <a:lstStyle/>
          <a:p>
            <a:r>
              <a:rPr lang="en-US" dirty="0"/>
              <a:t>To view your test progress of all your testing activities, simply click on '</a:t>
            </a:r>
            <a:r>
              <a:rPr lang="en-US" b="1" dirty="0"/>
              <a:t>Dashboards</a:t>
            </a:r>
            <a:r>
              <a:rPr lang="en-US" dirty="0"/>
              <a:t>' at the left of the top </a:t>
            </a:r>
            <a:r>
              <a:rPr lang="en-US" dirty="0" smtClean="0"/>
              <a:t>menu </a:t>
            </a:r>
            <a:r>
              <a:rPr lang="en-US" dirty="0"/>
              <a:t>navigation. Then click on the existing dashboard to open </a:t>
            </a:r>
            <a:r>
              <a:rPr lang="en-US" dirty="0" smtClean="0"/>
              <a:t>up </a:t>
            </a:r>
            <a:r>
              <a:rPr lang="en-US" dirty="0"/>
              <a:t>the dashboard</a:t>
            </a:r>
            <a:r>
              <a:rPr lang="en-US" dirty="0" smtClean="0"/>
              <a:t>.</a:t>
            </a:r>
            <a:endParaRPr lang="en-US" dirty="0" smtClean="0"/>
          </a:p>
          <a:p>
            <a:endParaRPr lang="en-US" dirty="0"/>
          </a:p>
          <a:p>
            <a:endParaRPr lang="en-IN" dirty="0"/>
          </a:p>
        </p:txBody>
      </p:sp>
      <p:sp>
        <p:nvSpPr>
          <p:cNvPr id="3" name="Title 2"/>
          <p:cNvSpPr>
            <a:spLocks noGrp="1"/>
          </p:cNvSpPr>
          <p:nvPr>
            <p:ph type="title"/>
          </p:nvPr>
        </p:nvSpPr>
        <p:spPr>
          <a:xfrm>
            <a:off x="340290" y="173448"/>
            <a:ext cx="8039005" cy="369812"/>
          </a:xfrm>
        </p:spPr>
        <p:txBody>
          <a:bodyPr>
            <a:normAutofit fontScale="90000"/>
          </a:bodyPr>
          <a:lstStyle/>
          <a:p>
            <a:r>
              <a:rPr lang="en-IN" dirty="0" smtClean="0"/>
              <a:t>View Progress</a:t>
            </a:r>
            <a:endParaRPr lang="en-IN" dirty="0"/>
          </a:p>
        </p:txBody>
      </p:sp>
      <p:pic>
        <p:nvPicPr>
          <p:cNvPr id="5" name="Picture 4"/>
          <p:cNvPicPr>
            <a:picLocks noChangeAspect="1"/>
          </p:cNvPicPr>
          <p:nvPr/>
        </p:nvPicPr>
        <p:blipFill>
          <a:blip r:embed="rId1"/>
          <a:stretch>
            <a:fillRect/>
          </a:stretch>
        </p:blipFill>
        <p:spPr>
          <a:xfrm>
            <a:off x="822613" y="2285134"/>
            <a:ext cx="7277100" cy="3867150"/>
          </a:xfrm>
          <a:prstGeom prst="rect">
            <a:avLst/>
          </a:prstGeom>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5472</Words>
  <Application>WPS Presentation</Application>
  <PresentationFormat>Widescreen</PresentationFormat>
  <Paragraphs>126</Paragraphs>
  <Slides>13</Slides>
  <Notes>10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幻灯片标题</vt:lpstr>
      </vt:variant>
      <vt:variant>
        <vt:i4>13</vt:i4>
      </vt:variant>
      <vt:variant>
        <vt:lpstr>自定义放映</vt:lpstr>
      </vt:variant>
      <vt:variant>
        <vt:i4>1</vt:i4>
      </vt:variant>
    </vt:vector>
  </HeadingPairs>
  <TitlesOfParts>
    <vt:vector size="30" baseType="lpstr">
      <vt:lpstr>Arial</vt:lpstr>
      <vt:lpstr>SimSun</vt:lpstr>
      <vt:lpstr>Wingdings</vt:lpstr>
      <vt:lpstr>Calibri</vt:lpstr>
      <vt:lpstr>Helvetica Neue</vt:lpstr>
      <vt:lpstr>Helvetica LT Std Cond</vt:lpstr>
      <vt:lpstr>Thonburi</vt:lpstr>
      <vt:lpstr>Helvetica LT Std Cond Light</vt:lpstr>
      <vt:lpstr>苹方-简</vt:lpstr>
      <vt:lpstr>Helvetica LT Std Cond</vt:lpstr>
      <vt:lpstr>Courier New</vt:lpstr>
      <vt:lpstr>微软雅黑</vt:lpstr>
      <vt:lpstr>汉仪旗黑</vt:lpstr>
      <vt:lpstr>Arial Unicode MS</vt:lpstr>
      <vt:lpstr>Wingdings</vt:lpstr>
      <vt:lpstr>Office Theme</vt:lpstr>
      <vt:lpstr>Day 2 – Introduction to Zephyr</vt:lpstr>
      <vt:lpstr>Table of Contents – Day 1</vt:lpstr>
      <vt:lpstr>About Zephyr</vt:lpstr>
      <vt:lpstr>Features of Zephyr for JIRA</vt:lpstr>
      <vt:lpstr>Adding Zephyr Plugin to Jira Cloud</vt:lpstr>
      <vt:lpstr>Create a Test</vt:lpstr>
      <vt:lpstr>Modify And View a Test Case</vt:lpstr>
      <vt:lpstr>Create a Test Cycle</vt:lpstr>
      <vt:lpstr>Adding Test to Test Cycle</vt:lpstr>
      <vt:lpstr>Assigning Test Execution</vt:lpstr>
      <vt:lpstr>Executing Test Case</vt:lpstr>
      <vt:lpstr>View Progress</vt:lpstr>
      <vt:lpstr>PowerPoint 演示文稿</vt:lpstr>
      <vt:lpstr>Custom Show 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Concepts, TDD, BDD &amp; Use case</dc:title>
  <dc:creator>Rekha Basurangan [MaGE]</dc:creator>
  <cp:lastModifiedBy>administrator</cp:lastModifiedBy>
  <cp:revision>382</cp:revision>
  <dcterms:created xsi:type="dcterms:W3CDTF">2022-02-10T08:07:13Z</dcterms:created>
  <dcterms:modified xsi:type="dcterms:W3CDTF">2022-02-10T08:07:13Z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1033-3.1.6.6275</vt:lpwstr>
  </property>
</Properties>
</file>