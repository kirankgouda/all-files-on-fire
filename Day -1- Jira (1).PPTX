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399" r:id="rId3"/>
    <p:sldId id="400" r:id="rId4"/>
    <p:sldId id="403" r:id="rId5"/>
    <p:sldId id="405" r:id="rId6"/>
    <p:sldId id="406" r:id="rId7"/>
    <p:sldId id="408" r:id="rId8"/>
    <p:sldId id="407" r:id="rId9"/>
    <p:sldId id="409" r:id="rId10"/>
    <p:sldId id="404" r:id="rId11"/>
    <p:sldId id="277" r:id="rId12"/>
  </p:sldIdLst>
  <p:sldSz cx="12192000" cy="6858000"/>
  <p:notesSz cx="6858000" cy="9144000"/>
  <p:custShowLst>
    <p:custShow name="Custom Show 1" id="0">
      <p:sldLst/>
    </p:custShow>
  </p:custShow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7509" autoAdjust="0"/>
  </p:normalViewPr>
  <p:slideViewPr>
    <p:cSldViewPr snapToGrid="0">
      <p:cViewPr varScale="1">
        <p:scale>
          <a:sx n="75" d="100"/>
          <a:sy n="75" d="100"/>
        </p:scale>
        <p:origin x="540" y="5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1143000" y="685800"/>
            <a:ext cx="4572000"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2</a:t>
            </a:fld>
            <a:endParaRPr lang="en-I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3</a:t>
            </a:fld>
            <a:endParaRPr lang="en-I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4</a:t>
            </a:fld>
            <a:endParaRPr lang="en-I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5</a:t>
            </a:fld>
            <a:endParaRPr lang="en-I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6</a:t>
            </a:fld>
            <a:endParaRPr lang="en-I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7</a:t>
            </a:fld>
            <a:endParaRPr lang="en-I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8</a:t>
            </a:fld>
            <a:endParaRPr lang="en-I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9</a:t>
            </a:fld>
            <a:endParaRPr lang="en-I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60AD1EE-5CAE-49AE-A980-D62FB2CD9985}" type="slidenum">
              <a:rPr lang="en-IN" smtClean="0"/>
              <a:t>10</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15" name="Picture 3" descr="Picture 3"/>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16" name="Rectangle 1"/>
          <p:cNvSpPr/>
          <p:nvPr/>
        </p:nvSpPr>
        <p:spPr>
          <a:xfrm>
            <a:off x="1401177" y="3187125"/>
            <a:ext cx="5683365" cy="2357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59"/>
                </a:lnTo>
                <a:lnTo>
                  <a:pt x="14686" y="21600"/>
                </a:lnTo>
                <a:lnTo>
                  <a:pt x="0" y="21496"/>
                </a:lnTo>
                <a:lnTo>
                  <a:pt x="0" y="0"/>
                </a:lnTo>
                <a:close/>
              </a:path>
            </a:pathLst>
          </a:custGeom>
          <a:solidFill>
            <a:srgbClr val="000000"/>
          </a:solidFill>
          <a:ln w="12700">
            <a:miter lim="400000"/>
          </a:ln>
        </p:spPr>
        <p:txBody>
          <a:bodyPr lIns="45719" rIns="45719" anchor="ctr"/>
          <a:lstStyle/>
          <a:p>
            <a:pPr algn="ctr">
              <a:defRPr>
                <a:solidFill>
                  <a:srgbClr val="FFFFFF"/>
                </a:solidFill>
              </a:defRPr>
            </a:pPr>
            <a:endParaRPr/>
          </a:p>
        </p:txBody>
      </p:sp>
      <p:sp>
        <p:nvSpPr>
          <p:cNvPr id="17" name="Rectangle 1"/>
          <p:cNvSpPr/>
          <p:nvPr/>
        </p:nvSpPr>
        <p:spPr>
          <a:xfrm>
            <a:off x="-36753" y="-1"/>
            <a:ext cx="5884895" cy="6942126"/>
          </a:xfrm>
          <a:custGeom>
            <a:avLst/>
            <a:gdLst/>
            <a:ahLst/>
            <a:cxnLst>
              <a:cxn ang="0">
                <a:pos x="wd2" y="hd2"/>
              </a:cxn>
              <a:cxn ang="5400000">
                <a:pos x="wd2" y="hd2"/>
              </a:cxn>
              <a:cxn ang="10800000">
                <a:pos x="wd2" y="hd2"/>
              </a:cxn>
              <a:cxn ang="16200000">
                <a:pos x="wd2" y="hd2"/>
              </a:cxn>
            </a:cxnLst>
            <a:rect l="0" t="0" r="r" b="b"/>
            <a:pathLst>
              <a:path w="21600" h="21600" extrusionOk="0">
                <a:moveTo>
                  <a:pt x="35" y="0"/>
                </a:moveTo>
                <a:lnTo>
                  <a:pt x="21600" y="0"/>
                </a:lnTo>
                <a:lnTo>
                  <a:pt x="4754" y="21583"/>
                </a:lnTo>
                <a:lnTo>
                  <a:pt x="0" y="21600"/>
                </a:lnTo>
                <a:lnTo>
                  <a:pt x="35" y="0"/>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18" name="Rectangle 1"/>
          <p:cNvSpPr/>
          <p:nvPr/>
        </p:nvSpPr>
        <p:spPr>
          <a:xfrm>
            <a:off x="-114575" y="2083684"/>
            <a:ext cx="7934743" cy="3692696"/>
          </a:xfrm>
          <a:custGeom>
            <a:avLst/>
            <a:gdLst/>
            <a:ahLst/>
            <a:cxnLst>
              <a:cxn ang="0">
                <a:pos x="wd2" y="hd2"/>
              </a:cxn>
              <a:cxn ang="5400000">
                <a:pos x="wd2" y="hd2"/>
              </a:cxn>
              <a:cxn ang="10800000">
                <a:pos x="wd2" y="hd2"/>
              </a:cxn>
              <a:cxn ang="16200000">
                <a:pos x="wd2" y="hd2"/>
              </a:cxn>
            </a:cxnLst>
            <a:rect l="0" t="0" r="r" b="b"/>
            <a:pathLst>
              <a:path w="21600" h="21600" extrusionOk="0">
                <a:moveTo>
                  <a:pt x="13" y="12"/>
                </a:moveTo>
                <a:lnTo>
                  <a:pt x="21600" y="0"/>
                </a:lnTo>
                <a:lnTo>
                  <a:pt x="13838" y="21600"/>
                </a:lnTo>
                <a:lnTo>
                  <a:pt x="0" y="21573"/>
                </a:lnTo>
                <a:cubicBezTo>
                  <a:pt x="12" y="14619"/>
                  <a:pt x="1" y="6967"/>
                  <a:pt x="13" y="12"/>
                </a:cubicBezTo>
                <a:close/>
              </a:path>
            </a:pathLst>
          </a:custGeom>
          <a:gradFill>
            <a:gsLst>
              <a:gs pos="21000">
                <a:srgbClr val="087AC0"/>
              </a:gs>
              <a:gs pos="100000">
                <a:srgbClr val="39B2E5"/>
              </a:gs>
            </a:gsLst>
            <a:lin ang="2700000"/>
          </a:gradFill>
          <a:ln w="12700">
            <a:miter lim="400000"/>
          </a:ln>
        </p:spPr>
        <p:txBody>
          <a:bodyPr lIns="45719" rIns="45719" anchor="ctr"/>
          <a:lstStyle/>
          <a:p>
            <a:pPr algn="ctr">
              <a:defRPr>
                <a:solidFill>
                  <a:srgbClr val="FFFFFF"/>
                </a:solidFill>
              </a:defRPr>
            </a:pPr>
            <a:endParaRPr/>
          </a:p>
        </p:txBody>
      </p:sp>
      <p:sp>
        <p:nvSpPr>
          <p:cNvPr id="19" name="Straight Connector 11"/>
          <p:cNvSpPr/>
          <p:nvPr/>
        </p:nvSpPr>
        <p:spPr>
          <a:xfrm>
            <a:off x="508763" y="4037948"/>
            <a:ext cx="5180524" cy="1"/>
          </a:xfrm>
          <a:prstGeom prst="line">
            <a:avLst/>
          </a:prstGeom>
          <a:ln w="19050">
            <a:solidFill>
              <a:srgbClr val="FFFFFF"/>
            </a:solidFill>
            <a:miter/>
          </a:ln>
        </p:spPr>
        <p:txBody>
          <a:bodyPr lIns="45719" rIns="45719"/>
          <a:lstStyle/>
          <a:p>
            <a:endParaRPr/>
          </a:p>
        </p:txBody>
      </p:sp>
      <p:sp>
        <p:nvSpPr>
          <p:cNvPr id="20" name="Title Text"/>
          <p:cNvSpPr txBox="1">
            <a:spLocks noGrp="1"/>
          </p:cNvSpPr>
          <p:nvPr>
            <p:ph type="title" hasCustomPrompt="1"/>
          </p:nvPr>
        </p:nvSpPr>
        <p:spPr>
          <a:xfrm>
            <a:off x="431486" y="2656202"/>
            <a:ext cx="6677794" cy="1296000"/>
          </a:xfrm>
          <a:prstGeom prst="rect">
            <a:avLst/>
          </a:prstGeom>
        </p:spPr>
        <p:txBody>
          <a:bodyPr anchor="b"/>
          <a:lstStyle>
            <a:lvl1pPr>
              <a:defRPr sz="3600" b="0">
                <a:solidFill>
                  <a:srgbClr val="FFFFFF"/>
                </a:solidFill>
                <a:latin typeface="+mn-lt"/>
                <a:ea typeface="+mn-ea"/>
                <a:cs typeface="+mn-cs"/>
                <a:sym typeface="Calibri"/>
              </a:defRPr>
            </a:lvl1pPr>
          </a:lstStyle>
          <a:p>
            <a:r>
              <a:t>Title Text</a:t>
            </a:r>
          </a:p>
        </p:txBody>
      </p:sp>
      <p:sp>
        <p:nvSpPr>
          <p:cNvPr id="21" name="Body Level One…"/>
          <p:cNvSpPr txBox="1">
            <a:spLocks noGrp="1"/>
          </p:cNvSpPr>
          <p:nvPr>
            <p:ph type="body" sz="quarter" idx="1" hasCustomPrompt="1"/>
          </p:nvPr>
        </p:nvSpPr>
        <p:spPr>
          <a:xfrm>
            <a:off x="431486" y="4100900"/>
            <a:ext cx="5257801" cy="547450"/>
          </a:xfrm>
          <a:prstGeom prst="rect">
            <a:avLst/>
          </a:prstGeom>
        </p:spPr>
        <p:txBody>
          <a:bodyPr/>
          <a:lstStyle>
            <a:lvl1pPr marL="0" indent="0">
              <a:buClrTx/>
              <a:buSzTx/>
              <a:buNone/>
              <a:defRPr sz="2400">
                <a:solidFill>
                  <a:srgbClr val="FFFFFF"/>
                </a:solidFill>
              </a:defRPr>
            </a:lvl1pPr>
            <a:lvl2pPr marL="0" indent="457200">
              <a:buClrTx/>
              <a:buSzTx/>
              <a:buNone/>
              <a:defRPr sz="2400">
                <a:solidFill>
                  <a:srgbClr val="FFFFFF"/>
                </a:solidFill>
              </a:defRPr>
            </a:lvl2pPr>
            <a:lvl3pPr marL="0" indent="914400">
              <a:buClrTx/>
              <a:buSzTx/>
              <a:buNone/>
              <a:defRPr sz="2400">
                <a:solidFill>
                  <a:srgbClr val="FFFFFF"/>
                </a:solidFill>
              </a:defRPr>
            </a:lvl3pPr>
            <a:lvl4pPr marL="0" indent="1371600">
              <a:buClrTx/>
              <a:buSzTx/>
              <a:buNone/>
              <a:defRPr sz="2400">
                <a:solidFill>
                  <a:srgbClr val="FFFFFF"/>
                </a:solidFill>
              </a:defRPr>
            </a:lvl4pPr>
            <a:lvl5pPr marL="0" indent="1828800">
              <a:buClrTx/>
              <a:buSzTx/>
              <a:buNone/>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pic>
        <p:nvPicPr>
          <p:cNvPr id="48" name="Picture 10" descr="Picture 10"/>
          <p:cNvPicPr>
            <a:picLocks noChangeAspect="1"/>
          </p:cNvPicPr>
          <p:nvPr/>
        </p:nvPicPr>
        <p:blipFill>
          <a:blip r:embed="rId2"/>
          <a:stretch>
            <a:fillRect/>
          </a:stretch>
        </p:blipFill>
        <p:spPr>
          <a:xfrm>
            <a:off x="-2" y="895"/>
            <a:ext cx="12193598" cy="6857105"/>
          </a:xfrm>
          <a:prstGeom prst="rect">
            <a:avLst/>
          </a:prstGeom>
          <a:ln w="12700">
            <a:miter lim="400000"/>
            <a:headEnd/>
            <a:tailEnd/>
          </a:ln>
        </p:spPr>
      </p:pic>
      <p:sp>
        <p:nvSpPr>
          <p:cNvPr id="49" name="Straight Connector 37"/>
          <p:cNvSpPr/>
          <p:nvPr/>
        </p:nvSpPr>
        <p:spPr>
          <a:xfrm>
            <a:off x="4667999" y="4432633"/>
            <a:ext cx="7524000" cy="14468"/>
          </a:xfrm>
          <a:prstGeom prst="line">
            <a:avLst/>
          </a:prstGeom>
          <a:ln w="6350">
            <a:solidFill>
              <a:srgbClr val="FFFFFF"/>
            </a:solidFill>
            <a:miter/>
          </a:ln>
        </p:spPr>
        <p:txBody>
          <a:bodyPr lIns="45719" rIns="45719"/>
          <a:lstStyle/>
          <a:p>
            <a:endParaRPr/>
          </a:p>
        </p:txBody>
      </p:sp>
      <p:sp>
        <p:nvSpPr>
          <p:cNvPr id="50" name="Straight Connector 39"/>
          <p:cNvSpPr/>
          <p:nvPr/>
        </p:nvSpPr>
        <p:spPr>
          <a:xfrm>
            <a:off x="7073548" y="2563746"/>
            <a:ext cx="5118452" cy="1"/>
          </a:xfrm>
          <a:prstGeom prst="line">
            <a:avLst/>
          </a:prstGeom>
          <a:ln w="6350">
            <a:solidFill>
              <a:srgbClr val="FFFFFF"/>
            </a:solidFill>
            <a:miter/>
          </a:ln>
        </p:spPr>
        <p:txBody>
          <a:bodyPr lIns="45719" rIns="45719"/>
          <a:lstStyle/>
          <a:p>
            <a:endParaRPr/>
          </a:p>
        </p:txBody>
      </p:sp>
      <p:sp>
        <p:nvSpPr>
          <p:cNvPr id="52" name="Rectangle 42"/>
          <p:cNvSpPr/>
          <p:nvPr/>
        </p:nvSpPr>
        <p:spPr>
          <a:xfrm>
            <a:off x="-9525" y="2533650"/>
            <a:ext cx="5315585" cy="1927860"/>
          </a:xfrm>
          <a:custGeom>
            <a:avLst/>
            <a:gdLst/>
            <a:ahLst/>
            <a:cxnLst>
              <a:cxn ang="0">
                <a:pos x="wd2" y="hd2"/>
              </a:cxn>
              <a:cxn ang="5400000">
                <a:pos x="wd2" y="hd2"/>
              </a:cxn>
              <a:cxn ang="10800000">
                <a:pos x="wd2" y="hd2"/>
              </a:cxn>
              <a:cxn ang="16200000">
                <a:pos x="wd2" y="hd2"/>
              </a:cxn>
            </a:cxnLst>
            <a:rect l="0" t="0" r="r" b="b"/>
            <a:pathLst>
              <a:path w="21600" h="21600" extrusionOk="0">
                <a:moveTo>
                  <a:pt x="24" y="0"/>
                </a:moveTo>
                <a:lnTo>
                  <a:pt x="21600" y="20"/>
                </a:lnTo>
                <a:lnTo>
                  <a:pt x="18299" y="21536"/>
                </a:lnTo>
                <a:lnTo>
                  <a:pt x="0" y="21600"/>
                </a:lnTo>
                <a:lnTo>
                  <a:pt x="24" y="0"/>
                </a:lnTo>
                <a:close/>
              </a:path>
            </a:pathLst>
          </a:custGeom>
          <a:solidFill>
            <a:srgbClr val="0D0D0D"/>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Title 1"/>
          <p:cNvSpPr txBox="1"/>
          <p:nvPr/>
        </p:nvSpPr>
        <p:spPr>
          <a:xfrm>
            <a:off x="5363588" y="2393533"/>
            <a:ext cx="1667098" cy="611758"/>
          </a:xfrm>
          <a:prstGeom prst="rect">
            <a:avLst/>
          </a:prstGeom>
          <a:ln w="12700">
            <a:miter lim="400000"/>
          </a:ln>
        </p:spPr>
        <p:txBody>
          <a:bodyPr lIns="45719" rIns="45719">
            <a:normAutofit fontScale="92500"/>
          </a:bodyPr>
          <a:lstStyle>
            <a:lvl1pPr algn="ctr" defTabSz="831850">
              <a:defRPr sz="2095" b="1">
                <a:solidFill>
                  <a:srgbClr val="FFFFFF"/>
                </a:solidFill>
                <a:latin typeface="Helvetica LT Std Cond"/>
                <a:ea typeface="Helvetica LT Std Cond"/>
                <a:cs typeface="Helvetica LT Std Cond"/>
                <a:sym typeface="Helvetica LT Std Cond"/>
              </a:defRPr>
            </a:lvl1pPr>
          </a:lstStyle>
          <a:p>
            <a:r>
              <a:t>THANK YOU</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28354" y="1742499"/>
            <a:ext cx="10622576" cy="4572241"/>
          </a:xfrm>
          <a:prstGeom prst="rect">
            <a:avLst/>
          </a:prstGeom>
        </p:spPr>
        <p:txBody>
          <a:bodyPr/>
          <a:lstStyle>
            <a:lvl1pPr marL="457200" indent="-457200">
              <a:spcBef>
                <a:spcPts val="500"/>
              </a:spcBef>
              <a:buFont typeface="Wingdings" panose="05000000000000000000" pitchFamily="2" charset="2"/>
              <a:buChar char="Ø"/>
              <a:defRPr sz="2400">
                <a:latin typeface="Helvetica LT Std Cond Light" panose="020B0406020202030204" pitchFamily="34" charset="0"/>
              </a:defRPr>
            </a:lvl1pPr>
            <a:lvl2pPr>
              <a:defRPr sz="2200">
                <a:latin typeface="Helvetica LT Std Cond Light" panose="020B0406020202030204" pitchFamily="34" charset="0"/>
              </a:defRPr>
            </a:lvl2pPr>
            <a:lvl3pPr marL="1143000" indent="-228600">
              <a:buFont typeface="Wingdings" panose="05000000000000000000" pitchFamily="2" charset="2"/>
              <a:buChar char="§"/>
              <a:defRPr sz="2000">
                <a:latin typeface="Helvetica LT Std Cond Light" panose="020B0406020202030204" pitchFamily="34" charset="0"/>
              </a:defRPr>
            </a:lvl3pPr>
            <a:lvl4pPr marL="1600200" indent="-228600">
              <a:buFont typeface="Wingdings" panose="05000000000000000000" pitchFamily="2" charset="2"/>
              <a:buChar char="§"/>
              <a:defRPr sz="1800">
                <a:latin typeface="Helvetica LT Std Cond Light" panose="020B0406020202030204" pitchFamily="34" charset="0"/>
              </a:defRPr>
            </a:lvl4pPr>
            <a:lvl5pPr marL="2057400" indent="-228600">
              <a:buFont typeface="Wingdings" panose="05000000000000000000" pitchFamily="2" charset="2"/>
              <a:buChar char="§"/>
              <a:defRPr sz="1600">
                <a:latin typeface="Helvetica LT Std Cond Light" panose="020B0406020202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itle 1"/>
          <p:cNvSpPr>
            <a:spLocks noGrp="1"/>
          </p:cNvSpPr>
          <p:nvPr>
            <p:ph type="title" hasCustomPrompt="1"/>
          </p:nvPr>
        </p:nvSpPr>
        <p:spPr>
          <a:xfrm>
            <a:off x="349621" y="921641"/>
            <a:ext cx="8039005" cy="369812"/>
          </a:xfrm>
          <a:prstGeom prst="rect">
            <a:avLst/>
          </a:prstGeom>
        </p:spPr>
        <p:txBody>
          <a:bodyPr/>
          <a:lstStyle>
            <a:lvl1pPr>
              <a:defRPr sz="2400" b="1">
                <a:solidFill>
                  <a:srgbClr val="02918B"/>
                </a:solidFill>
                <a:latin typeface="Helvetica LT Std Cond" panose="020B0506020202030204" pitchFamily="34" charset="0"/>
              </a:defRPr>
            </a:lvl1pPr>
          </a:lstStyle>
          <a:p>
            <a:r>
              <a:rPr lang="en-US" dirty="0"/>
              <a:t>SLIDE TITLE</a:t>
            </a:r>
            <a:endParaRPr lang="en-IN" dirty="0"/>
          </a:p>
        </p:txBody>
      </p:sp>
      <p:sp>
        <p:nvSpPr>
          <p:cNvPr id="6" name="TextBox 5"/>
          <p:cNvSpPr txBox="1"/>
          <p:nvPr userDrawn="1"/>
        </p:nvSpPr>
        <p:spPr>
          <a:xfrm>
            <a:off x="5794786" y="6454591"/>
            <a:ext cx="602429" cy="276999"/>
          </a:xfrm>
          <a:prstGeom prst="rect">
            <a:avLst/>
          </a:prstGeom>
          <a:noFill/>
        </p:spPr>
        <p:txBody>
          <a:bodyPr wrap="square" rtlCol="0">
            <a:spAutoFit/>
          </a:bodyPr>
          <a:lstStyle/>
          <a:p>
            <a:pPr algn="ctr"/>
            <a:fld id="{80185F77-B28D-4181-BD8D-423D01B3D466}" type="slidenum">
              <a:rPr lang="en-IN" sz="1200" smtClean="0">
                <a:solidFill>
                  <a:schemeClr val="bg1">
                    <a:lumMod val="50000"/>
                  </a:schemeClr>
                </a:solidFill>
              </a:rPr>
              <a:t>‹#›</a:t>
            </a:fld>
            <a:endParaRPr lang="en-IN" sz="1200" dirty="0">
              <a:solidFill>
                <a:schemeClr val="bg1">
                  <a:lumMod val="50000"/>
                </a:schemeClr>
              </a:solidFill>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73050" y="200025"/>
            <a:ext cx="10515600" cy="617753"/>
          </a:xfrm>
          <a:prstGeom prst="rect">
            <a:avLst/>
          </a:prstGeom>
          <a:ln w="12700">
            <a:miter lim="400000"/>
          </a:ln>
        </p:spPr>
        <p:txBody>
          <a:bodyPr lIns="45719" rIns="45719" anchor="ctr">
            <a:normAutofit/>
          </a:bodyPr>
          <a:lstStyle/>
          <a:p>
            <a:r>
              <a:t>Title Text</a:t>
            </a:r>
          </a:p>
        </p:txBody>
      </p:sp>
      <p:sp>
        <p:nvSpPr>
          <p:cNvPr id="3" name="Body Level One…"/>
          <p:cNvSpPr txBox="1">
            <a:spLocks noGrp="1"/>
          </p:cNvSpPr>
          <p:nvPr>
            <p:ph type="body" idx="1"/>
          </p:nvPr>
        </p:nvSpPr>
        <p:spPr>
          <a:xfrm>
            <a:off x="298524" y="1717993"/>
            <a:ext cx="10515601" cy="4351339"/>
          </a:xfrm>
          <a:prstGeom prst="rect">
            <a:avLst/>
          </a:prstGeom>
          <a:ln w="12700">
            <a:miter lim="400000"/>
          </a:ln>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Rectangle 11"/>
          <p:cNvSpPr/>
          <p:nvPr/>
        </p:nvSpPr>
        <p:spPr>
          <a:xfrm>
            <a:off x="3984585" y="2174563"/>
            <a:ext cx="3251199" cy="13335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9237" y="21600"/>
                </a:lnTo>
                <a:lnTo>
                  <a:pt x="0" y="20983"/>
                </a:lnTo>
                <a:lnTo>
                  <a:pt x="0" y="0"/>
                </a:lnTo>
                <a:close/>
              </a:path>
            </a:pathLst>
          </a:custGeom>
          <a:solidFill>
            <a:srgbClr val="FFFFFF"/>
          </a:solidFill>
          <a:ln w="12700">
            <a:miter lim="400000"/>
          </a:ln>
        </p:spPr>
        <p:txBody>
          <a:bodyPr lIns="45719" rIns="45719" anchor="ctr"/>
          <a:lstStyle/>
          <a:p>
            <a:pPr algn="ctr">
              <a:defRPr>
                <a:solidFill>
                  <a:srgbClr val="FFFFFF"/>
                </a:solidFill>
              </a:defRPr>
            </a:pPr>
            <a:endParaRPr/>
          </a:p>
        </p:txBody>
      </p:sp>
      <p:sp>
        <p:nvSpPr>
          <p:cNvPr id="5" name="Rectangle 4"/>
          <p:cNvSpPr/>
          <p:nvPr/>
        </p:nvSpPr>
        <p:spPr>
          <a:xfrm>
            <a:off x="0" y="0"/>
            <a:ext cx="12179300" cy="45719"/>
          </a:xfrm>
          <a:prstGeom prst="rect">
            <a:avLst/>
          </a:pr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6" name="Rectangle 6"/>
          <p:cNvSpPr/>
          <p:nvPr/>
        </p:nvSpPr>
        <p:spPr>
          <a:xfrm rot="10800000" flipH="1">
            <a:off x="9105900" y="0"/>
            <a:ext cx="3073400" cy="825500"/>
          </a:xfrm>
          <a:custGeom>
            <a:avLst/>
            <a:gdLst/>
            <a:ahLst/>
            <a:cxnLst>
              <a:cxn ang="0">
                <a:pos x="wd2" y="hd2"/>
              </a:cxn>
              <a:cxn ang="5400000">
                <a:pos x="wd2" y="hd2"/>
              </a:cxn>
              <a:cxn ang="10800000">
                <a:pos x="wd2" y="hd2"/>
              </a:cxn>
              <a:cxn ang="16200000">
                <a:pos x="wd2" y="hd2"/>
              </a:cxn>
            </a:cxnLst>
            <a:rect l="0" t="0" r="r" b="b"/>
            <a:pathLst>
              <a:path w="21600" h="21600" extrusionOk="0">
                <a:moveTo>
                  <a:pt x="3899" y="332"/>
                </a:moveTo>
                <a:lnTo>
                  <a:pt x="21600" y="0"/>
                </a:lnTo>
                <a:lnTo>
                  <a:pt x="21600" y="21268"/>
                </a:lnTo>
                <a:lnTo>
                  <a:pt x="0" y="21600"/>
                </a:lnTo>
                <a:lnTo>
                  <a:pt x="3899" y="332"/>
                </a:lnTo>
                <a:close/>
              </a:path>
            </a:pathLst>
          </a:custGeom>
          <a:solidFill>
            <a:srgbClr val="000000"/>
          </a:solidFill>
          <a:ln w="12700">
            <a:solidFill>
              <a:srgbClr val="000000"/>
            </a:solidFill>
            <a:miter/>
          </a:ln>
        </p:spPr>
        <p:txBody>
          <a:bodyPr lIns="45719" rIns="45719" anchor="ctr"/>
          <a:lstStyle/>
          <a:p>
            <a:pPr algn="ctr">
              <a:defRPr>
                <a:solidFill>
                  <a:srgbClr val="FFFFFF"/>
                </a:solidFill>
              </a:defRPr>
            </a:pPr>
            <a:endParaRPr/>
          </a:p>
        </p:txBody>
      </p:sp>
      <p:sp>
        <p:nvSpPr>
          <p:cNvPr id="8"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1pPr>
      <a:lvl2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2pPr>
      <a:lvl3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3pPr>
      <a:lvl4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4pPr>
      <a:lvl5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5pPr>
      <a:lvl6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6pPr>
      <a:lvl7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7pPr>
      <a:lvl8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8pPr>
      <a:lvl9pPr marL="0" marR="0" indent="0" algn="l" defTabSz="914400" rtl="0" latinLnBrk="0">
        <a:lnSpc>
          <a:spcPct val="90000"/>
        </a:lnSpc>
        <a:spcBef>
          <a:spcPts val="0"/>
        </a:spcBef>
        <a:spcAft>
          <a:spcPts val="0"/>
        </a:spcAft>
        <a:buClrTx/>
        <a:buSzTx/>
        <a:buFontTx/>
        <a:buNone/>
        <a:defRPr sz="3200" b="1" i="0" u="none" strike="noStrike" cap="none" spc="0" baseline="0">
          <a:ln>
            <a:noFill/>
          </a:ln>
          <a:solidFill>
            <a:srgbClr val="087AC0"/>
          </a:solidFill>
          <a:uFillTx/>
          <a:latin typeface="Helvetica LT Std Cond"/>
          <a:ea typeface="Helvetica LT Std Cond"/>
          <a:cs typeface="Helvetica LT Std Cond"/>
          <a:sym typeface="Helvetica LT Std Cond"/>
        </a:defRPr>
      </a:lvl9pPr>
    </p:titleStyle>
    <p:bodyStyle>
      <a:lvl1pPr marL="228600" marR="0" indent="-228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2pPr>
      <a:lvl3pPr marL="1234440" marR="0" indent="-32004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
          <a:srgbClr val="087AC0"/>
        </a:buClr>
        <a:buSzPct val="100000"/>
        <a:buFontTx/>
        <a:buChar char="•"/>
        <a:defRPr sz="2800" b="0" i="0" u="none" strike="noStrike" cap="none" spc="0" baseline="0">
          <a:ln>
            <a:noFill/>
          </a:ln>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2"/>
          <p:cNvSpPr txBox="1">
            <a:spLocks noGrp="1"/>
          </p:cNvSpPr>
          <p:nvPr>
            <p:ph type="title"/>
          </p:nvPr>
        </p:nvSpPr>
        <p:spPr>
          <a:xfrm>
            <a:off x="431486" y="2763892"/>
            <a:ext cx="6183323" cy="1296001"/>
          </a:xfrm>
          <a:prstGeom prst="rect">
            <a:avLst/>
          </a:prstGeom>
        </p:spPr>
        <p:txBody>
          <a:bodyPr anchor="ctr"/>
          <a:lstStyle/>
          <a:p>
            <a:pPr>
              <a:defRPr sz="3200" b="1">
                <a:latin typeface="Helvetica LT Std Cond"/>
                <a:ea typeface="Helvetica LT Std Cond"/>
                <a:cs typeface="Helvetica LT Std Cond"/>
                <a:sym typeface="Helvetica LT Std Cond"/>
              </a:defRPr>
            </a:pPr>
            <a:r>
              <a:rPr lang="en-IN" dirty="0"/>
              <a:t>Day 1 – Introduction to </a:t>
            </a:r>
            <a:r>
              <a:rPr lang="en-IN" dirty="0" err="1"/>
              <a:t>Jira</a:t>
            </a:r>
            <a:endParaRPr dirty="0"/>
          </a:p>
        </p:txBody>
      </p:sp>
      <p:sp>
        <p:nvSpPr>
          <p:cNvPr id="73" name="Text Placeholder 3"/>
          <p:cNvSpPr txBox="1">
            <a:spLocks noGrp="1"/>
          </p:cNvSpPr>
          <p:nvPr>
            <p:ph type="body" sz="quarter" idx="1"/>
          </p:nvPr>
        </p:nvSpPr>
        <p:spPr>
          <a:xfrm>
            <a:off x="431486" y="4203932"/>
            <a:ext cx="5257801" cy="1218075"/>
          </a:xfrm>
          <a:prstGeom prst="rect">
            <a:avLst/>
          </a:prstGeom>
        </p:spPr>
        <p:txBody>
          <a:bodyPr/>
          <a:lstStyle/>
          <a:p>
            <a:pPr>
              <a:defRPr>
                <a:latin typeface="Helvetica LT Std Cond"/>
                <a:ea typeface="Helvetica LT Std Cond"/>
                <a:cs typeface="Helvetica LT Std Cond"/>
                <a:sym typeface="Helvetica LT Std Cond"/>
              </a:defRPr>
            </a:pPr>
            <a:r>
              <a:rPr dirty="0"/>
              <a:t>by </a:t>
            </a:r>
            <a:endParaRPr lang="en-US" dirty="0"/>
          </a:p>
          <a:p>
            <a:pPr>
              <a:defRPr>
                <a:latin typeface="Helvetica LT Std Cond"/>
                <a:ea typeface="Helvetica LT Std Cond"/>
                <a:cs typeface="Helvetica LT Std Cond"/>
                <a:sym typeface="Helvetica LT Std Cond"/>
              </a:defRPr>
            </a:pPr>
            <a:r>
              <a:rPr lang="en-US" dirty="0"/>
              <a:t>Amit Luthra</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IN" dirty="0"/>
              <a:t>JIRA Key Concepts</a:t>
            </a:r>
          </a:p>
          <a:p>
            <a:r>
              <a:rPr lang="en-IN" dirty="0"/>
              <a:t>Getting started with JIRA</a:t>
            </a:r>
          </a:p>
          <a:p>
            <a:r>
              <a:rPr lang="en-IN" dirty="0"/>
              <a:t>How to Create Sprints</a:t>
            </a:r>
          </a:p>
          <a:p>
            <a:r>
              <a:rPr lang="en-IN" dirty="0"/>
              <a:t>How to Create Epic</a:t>
            </a:r>
          </a:p>
          <a:p>
            <a:r>
              <a:rPr lang="en-IN" dirty="0"/>
              <a:t>How to Create Stories, Task, Sub Tasks and Bugs</a:t>
            </a:r>
          </a:p>
          <a:p>
            <a:r>
              <a:rPr lang="en-IN" dirty="0"/>
              <a:t>How To link Issues with User Stories</a:t>
            </a:r>
          </a:p>
          <a:p>
            <a:r>
              <a:rPr lang="en-IN" dirty="0"/>
              <a:t>What is Story Points</a:t>
            </a:r>
          </a:p>
          <a:p>
            <a:r>
              <a:rPr lang="en-IN" dirty="0"/>
              <a:t>Introduction to Workflows</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US" dirty="0"/>
              <a:t>Table of Contents – Day 1</a:t>
            </a:r>
            <a:endParaRPr lang="en-IN" dirty="0">
              <a:solidFill>
                <a:schemeClr val="tx1"/>
              </a:solidFill>
            </a:endParaRPr>
          </a:p>
        </p:txBody>
      </p:sp>
      <p:sp>
        <p:nvSpPr>
          <p:cNvPr id="5" name="Rectangle 1"/>
          <p:cNvSpPr>
            <a:spLocks noChangeArrowheads="1"/>
          </p:cNvSpPr>
          <p:nvPr/>
        </p:nvSpPr>
        <p:spPr bwMode="auto">
          <a:xfrm>
            <a:off x="4413250" y="2808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t/>
            </a:r>
            <a:br>
              <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rPr>
            </a:br>
            <a:endParaRPr kumimoji="0" lang="en-US" sz="1800" b="0" i="0" u="none" strike="noStrike" cap="none" normalizeH="0" baseline="0">
              <a:ln>
                <a:noFill/>
              </a:ln>
              <a:solidFill>
                <a:schemeClr val="tx1"/>
              </a:solidFill>
              <a:effectLst/>
              <a:latin typeface="Arial" panose="020B0704020202020204" pitchFamily="34" charset="0"/>
              <a:cs typeface="Arial" panose="020B0704020202020204" pitchFamily="34"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391193" y="1826424"/>
            <a:ext cx="10703527" cy="3903815"/>
          </a:xfrm>
        </p:spPr>
        <p:txBody>
          <a:bodyPr>
            <a:noAutofit/>
          </a:bodyPr>
          <a:lstStyle/>
          <a:p>
            <a:r>
              <a:rPr lang="en-IN" dirty="0"/>
              <a:t>JIRA is a tool developed by Australian Company </a:t>
            </a:r>
            <a:r>
              <a:rPr lang="en-IN" dirty="0" err="1"/>
              <a:t>Atlassian</a:t>
            </a:r>
            <a:r>
              <a:rPr lang="en-IN" dirty="0"/>
              <a:t>. It is used for bug tracking, issue tracking, and project management.</a:t>
            </a:r>
          </a:p>
          <a:p>
            <a:r>
              <a:rPr lang="en-IN" dirty="0"/>
              <a:t>Basically, it is used for project management, service helpdesk, as Incident tracker etc..</a:t>
            </a:r>
          </a:p>
        </p:txBody>
      </p:sp>
      <p:sp>
        <p:nvSpPr>
          <p:cNvPr id="3" name="Title 2"/>
          <p:cNvSpPr>
            <a:spLocks noGrp="1"/>
          </p:cNvSpPr>
          <p:nvPr>
            <p:ph type="title"/>
          </p:nvPr>
        </p:nvSpPr>
        <p:spPr>
          <a:xfrm>
            <a:off x="603618" y="234639"/>
            <a:ext cx="8039005" cy="369812"/>
          </a:xfrm>
        </p:spPr>
        <p:txBody>
          <a:bodyPr>
            <a:normAutofit fontScale="90000"/>
          </a:bodyPr>
          <a:lstStyle/>
          <a:p>
            <a:pPr lvl="0"/>
            <a:r>
              <a:rPr lang="en-IN" dirty="0"/>
              <a:t>JIRA Key Concepts</a:t>
            </a:r>
            <a:endParaRPr lang="en-IN" dirty="0">
              <a:solidFill>
                <a:schemeClr val="tx1"/>
              </a:solidFill>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Introduction to Issues</a:t>
            </a:r>
            <a:endParaRPr lang="en-IN" dirty="0">
              <a:solidFill>
                <a:schemeClr val="tx1"/>
              </a:solidFill>
            </a:endParaRPr>
          </a:p>
        </p:txBody>
      </p:sp>
      <p:sp>
        <p:nvSpPr>
          <p:cNvPr id="5" name="Content Placeholder 4"/>
          <p:cNvSpPr>
            <a:spLocks noGrp="1"/>
          </p:cNvSpPr>
          <p:nvPr>
            <p:ph sz="half" idx="1"/>
          </p:nvPr>
        </p:nvSpPr>
        <p:spPr/>
        <p:txBody>
          <a:bodyPr/>
          <a:lstStyle/>
          <a:p>
            <a:r>
              <a:rPr lang="en-IN" dirty="0"/>
              <a:t>In </a:t>
            </a:r>
            <a:r>
              <a:rPr lang="en-IN" dirty="0" err="1"/>
              <a:t>Jira</a:t>
            </a:r>
            <a:r>
              <a:rPr lang="en-IN" dirty="0"/>
              <a:t>, Issue Type displays all types of items that can be created and tracked via JIRA. JIRA Issues are classified under various forms like Story, Task, sub-task, bug, etc. </a:t>
            </a:r>
          </a:p>
          <a:p>
            <a:r>
              <a:rPr lang="en-IN" dirty="0"/>
              <a:t>Lets see in detail as how to create issues in </a:t>
            </a:r>
            <a:r>
              <a:rPr lang="en-IN" dirty="0" err="1"/>
              <a:t>jira</a:t>
            </a:r>
            <a:endParaRPr lang="en-IN" dirty="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Sprint</a:t>
            </a:r>
            <a:endParaRPr lang="en-IN" dirty="0">
              <a:solidFill>
                <a:schemeClr val="tx1"/>
              </a:solidFill>
            </a:endParaRPr>
          </a:p>
        </p:txBody>
      </p:sp>
      <p:sp>
        <p:nvSpPr>
          <p:cNvPr id="5" name="Content Placeholder 4"/>
          <p:cNvSpPr>
            <a:spLocks noGrp="1"/>
          </p:cNvSpPr>
          <p:nvPr>
            <p:ph sz="half" idx="1"/>
          </p:nvPr>
        </p:nvSpPr>
        <p:spPr/>
        <p:txBody>
          <a:bodyPr/>
          <a:lstStyle/>
          <a:p>
            <a:r>
              <a:rPr lang="en-US" dirty="0"/>
              <a:t>A </a:t>
            </a:r>
            <a:r>
              <a:rPr lang="en-US" i="1" dirty="0"/>
              <a:t>sprint</a:t>
            </a:r>
            <a:r>
              <a:rPr lang="en-US" dirty="0"/>
              <a:t> — also known as an </a:t>
            </a:r>
            <a:r>
              <a:rPr lang="en-US" i="1" dirty="0"/>
              <a:t>iteration</a:t>
            </a:r>
            <a:r>
              <a:rPr lang="en-US" dirty="0"/>
              <a:t> — is a short period in which the team implements and delivers a discrete and potentially shippable application increment, e.g. a working milestone version. </a:t>
            </a:r>
          </a:p>
          <a:p>
            <a:endParaRPr lang="en-US" dirty="0"/>
          </a:p>
          <a:p>
            <a:r>
              <a:rPr lang="en-US" dirty="0"/>
              <a:t>If you haven't run sprints before, we recommend using a fixed two-week duration for each sprint.</a:t>
            </a:r>
          </a:p>
          <a:p>
            <a:endParaRPr lang="en-US" dirty="0"/>
          </a:p>
          <a:p>
            <a:r>
              <a:rPr lang="en-US" dirty="0"/>
              <a:t>In Jira Software, you view sprints on a board and assign issues to sprints.</a:t>
            </a:r>
            <a:endParaRPr lang="en-IN" dirty="0"/>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Epic</a:t>
            </a:r>
            <a:endParaRPr lang="en-IN" dirty="0">
              <a:solidFill>
                <a:schemeClr val="tx1"/>
              </a:solidFill>
            </a:endParaRPr>
          </a:p>
        </p:txBody>
      </p:sp>
      <p:sp>
        <p:nvSpPr>
          <p:cNvPr id="5" name="Content Placeholder 4"/>
          <p:cNvSpPr>
            <a:spLocks noGrp="1"/>
          </p:cNvSpPr>
          <p:nvPr>
            <p:ph sz="half" idx="1"/>
          </p:nvPr>
        </p:nvSpPr>
        <p:spPr>
          <a:xfrm>
            <a:off x="500644" y="855808"/>
            <a:ext cx="10622576" cy="4572241"/>
          </a:xfrm>
        </p:spPr>
        <p:txBody>
          <a:bodyPr/>
          <a:lstStyle/>
          <a:p>
            <a:r>
              <a:rPr lang="en-US" sz="2800" b="1" dirty="0"/>
              <a:t>EPIC :- </a:t>
            </a:r>
            <a:r>
              <a:rPr lang="en-US" dirty="0"/>
              <a:t>An </a:t>
            </a:r>
            <a:r>
              <a:rPr lang="en-US" b="1" dirty="0"/>
              <a:t>epic</a:t>
            </a:r>
            <a:r>
              <a:rPr lang="en-US" dirty="0"/>
              <a:t> is a large body of work that can be broken down into a number of smaller stories, or sometimes called “Issues” in </a:t>
            </a:r>
            <a:r>
              <a:rPr lang="en-US" b="1" dirty="0"/>
              <a:t>Jira</a:t>
            </a:r>
            <a:r>
              <a:rPr lang="en-US" dirty="0"/>
              <a:t>. </a:t>
            </a:r>
          </a:p>
          <a:p>
            <a:endParaRPr lang="en-US" b="1" dirty="0"/>
          </a:p>
          <a:p>
            <a:r>
              <a:rPr lang="en-US" b="1" dirty="0"/>
              <a:t>Epics</a:t>
            </a:r>
            <a:r>
              <a:rPr lang="en-US" dirty="0"/>
              <a:t> often encompass multiple teams, on multiple projects, and can even be tracked on multiple boards. </a:t>
            </a:r>
          </a:p>
          <a:p>
            <a:endParaRPr lang="en-US" b="1" dirty="0"/>
          </a:p>
          <a:p>
            <a:r>
              <a:rPr lang="en-US" b="1" dirty="0"/>
              <a:t>Epics</a:t>
            </a:r>
            <a:r>
              <a:rPr lang="en-US" dirty="0"/>
              <a:t> are almost always delivered over a set of sprints</a:t>
            </a:r>
            <a:r>
              <a:rPr lang="en-US" dirty="0" smtClean="0"/>
              <a:t>.</a:t>
            </a:r>
          </a:p>
          <a:p>
            <a:endParaRPr lang="en-US" dirty="0"/>
          </a:p>
          <a:p>
            <a:endParaRPr lang="en-IN" dirty="0"/>
          </a:p>
        </p:txBody>
      </p:sp>
      <p:pic>
        <p:nvPicPr>
          <p:cNvPr id="2" name="Picture 1"/>
          <p:cNvPicPr>
            <a:picLocks noChangeAspect="1"/>
          </p:cNvPicPr>
          <p:nvPr/>
        </p:nvPicPr>
        <p:blipFill>
          <a:blip r:embed="rId3"/>
          <a:stretch>
            <a:fillRect/>
          </a:stretch>
        </p:blipFill>
        <p:spPr>
          <a:xfrm>
            <a:off x="5811932" y="3475326"/>
            <a:ext cx="5705475" cy="3038475"/>
          </a:xfrm>
          <a:prstGeom prst="rect">
            <a:avLst/>
          </a:prstGeom>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Task , sub Task and Bugs</a:t>
            </a:r>
            <a:endParaRPr lang="en-IN" dirty="0">
              <a:solidFill>
                <a:schemeClr val="tx1"/>
              </a:solidFill>
            </a:endParaRPr>
          </a:p>
        </p:txBody>
      </p:sp>
      <p:sp>
        <p:nvSpPr>
          <p:cNvPr id="5" name="Content Placeholder 4"/>
          <p:cNvSpPr>
            <a:spLocks noGrp="1"/>
          </p:cNvSpPr>
          <p:nvPr>
            <p:ph sz="half" idx="1"/>
          </p:nvPr>
        </p:nvSpPr>
        <p:spPr/>
        <p:txBody>
          <a:bodyPr/>
          <a:lstStyle/>
          <a:p>
            <a:r>
              <a:rPr lang="en-US" sz="2800" b="1" dirty="0"/>
              <a:t>Story :- </a:t>
            </a:r>
            <a:r>
              <a:rPr lang="en-US" sz="2000" dirty="0"/>
              <a:t>User stories are a key element in the agile methodologies. They’re an essential strategy for communicating requirements to the development team. It’s important that the person tasked with documenting feature requirements is able to write effective and accurate user stories. </a:t>
            </a:r>
            <a:endParaRPr lang="en-US" sz="2000" dirty="0" smtClean="0"/>
          </a:p>
          <a:p>
            <a:endParaRPr lang="en-US" sz="2000" dirty="0"/>
          </a:p>
          <a:p>
            <a:r>
              <a:rPr lang="en-US" sz="2000" dirty="0"/>
              <a:t>A user story is an informal, general explanation of a software feature written from the perspective of the end user. Its purpose is to articulate how a software feature will provide value to the customer.</a:t>
            </a:r>
          </a:p>
          <a:p>
            <a:endParaRPr lang="en-US" sz="2000" dirty="0"/>
          </a:p>
          <a:p>
            <a:r>
              <a:rPr lang="en-US" sz="2000" dirty="0"/>
              <a:t>Most user stories follow this template:</a:t>
            </a:r>
          </a:p>
          <a:p>
            <a:r>
              <a:rPr lang="en-US" sz="2000" b="1" dirty="0"/>
              <a:t>As a [type of user], I want to do [X[, so that I can [achieve goal X]. </a:t>
            </a:r>
            <a:endParaRPr lang="en-US" sz="2000" dirty="0"/>
          </a:p>
          <a:p>
            <a:r>
              <a:rPr lang="en-US" sz="2000" dirty="0"/>
              <a:t>For example:</a:t>
            </a:r>
          </a:p>
          <a:p>
            <a:r>
              <a:rPr lang="en-US" sz="2000" dirty="0"/>
              <a:t>As an Admin, I want to have access to the database so that I can reset the user password.</a:t>
            </a:r>
          </a:p>
          <a:p>
            <a:endParaRPr lang="en-IN" dirty="0"/>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Task , sub Task and Bugs</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b="1" dirty="0"/>
              <a:t>Task</a:t>
            </a:r>
            <a:endParaRPr lang="en-US" dirty="0"/>
          </a:p>
          <a:p>
            <a:pPr marL="0" indent="0">
              <a:buNone/>
            </a:pPr>
            <a:r>
              <a:rPr lang="en-US" dirty="0"/>
              <a:t>A task represents work that needs to be done.</a:t>
            </a:r>
          </a:p>
          <a:p>
            <a:endParaRPr lang="en-US" dirty="0"/>
          </a:p>
          <a:p>
            <a:r>
              <a:rPr lang="en-US" b="1" dirty="0"/>
              <a:t>Subtask</a:t>
            </a:r>
            <a:endParaRPr lang="en-US" dirty="0"/>
          </a:p>
          <a:p>
            <a:pPr marL="0" indent="0">
              <a:buNone/>
            </a:pPr>
            <a:r>
              <a:rPr lang="en-US" dirty="0"/>
              <a:t>A subtask is a piece of work that is required to complete a task.</a:t>
            </a:r>
          </a:p>
          <a:p>
            <a:pPr marL="0" indent="0">
              <a:buNone/>
            </a:pPr>
            <a:endParaRPr lang="en-US" dirty="0"/>
          </a:p>
          <a:p>
            <a:r>
              <a:rPr lang="en-US" b="1" dirty="0"/>
              <a:t>Bug</a:t>
            </a:r>
            <a:endParaRPr lang="en-US" dirty="0"/>
          </a:p>
          <a:p>
            <a:pPr marL="0" indent="0">
              <a:buNone/>
            </a:pPr>
            <a:r>
              <a:rPr lang="en-US" dirty="0"/>
              <a:t>A bug is a problem which impairs or prevents the functions of a product.</a:t>
            </a:r>
          </a:p>
          <a:p>
            <a:pPr marL="0" indent="0">
              <a:buNone/>
            </a:pPr>
            <a:endParaRPr lang="en-US" dirty="0"/>
          </a:p>
          <a:p>
            <a:pPr marL="0" indent="0">
              <a:buNone/>
            </a:pPr>
            <a:endParaRPr lang="en-US" dirty="0"/>
          </a:p>
          <a:p>
            <a:endParaRPr lang="en-US" dirty="0"/>
          </a:p>
          <a:p>
            <a:endParaRPr lang="en-IN" dirty="0"/>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What is Story Points</a:t>
            </a:r>
            <a:endParaRPr lang="en-IN" dirty="0">
              <a:solidFill>
                <a:schemeClr val="tx1"/>
              </a:solidFill>
            </a:endParaRPr>
          </a:p>
        </p:txBody>
      </p:sp>
      <p:sp>
        <p:nvSpPr>
          <p:cNvPr id="5" name="Content Placeholder 4"/>
          <p:cNvSpPr>
            <a:spLocks noGrp="1"/>
          </p:cNvSpPr>
          <p:nvPr>
            <p:ph sz="half" idx="1"/>
          </p:nvPr>
        </p:nvSpPr>
        <p:spPr>
          <a:xfrm>
            <a:off x="528354" y="1296955"/>
            <a:ext cx="10622576" cy="5017785"/>
          </a:xfrm>
        </p:spPr>
        <p:txBody>
          <a:bodyPr/>
          <a:lstStyle/>
          <a:p>
            <a:r>
              <a:rPr lang="en-US" dirty="0"/>
              <a:t>There's a huge variety of ways to estimate stories, but the objective of every approach is to be able to get better at predicting how much work the team can do each sprint. </a:t>
            </a:r>
          </a:p>
          <a:p>
            <a:endParaRPr lang="en-US" dirty="0"/>
          </a:p>
          <a:p>
            <a:r>
              <a:rPr lang="en-US" dirty="0"/>
              <a:t>Even when you estimate in story points, you can still track in time if you want. Knowing the team velocity (regardless of the measure used) enables you to roughly guess how long estimated backlog items will take to complete. </a:t>
            </a:r>
          </a:p>
          <a:p>
            <a:endParaRPr lang="en-US" dirty="0"/>
          </a:p>
          <a:p>
            <a:r>
              <a:rPr lang="en-US" dirty="0"/>
              <a:t>Jira Software does also have a couple of dedicated fields (</a:t>
            </a:r>
            <a:r>
              <a:rPr lang="en-US" b="1" dirty="0"/>
              <a:t>Remaining Estimate</a:t>
            </a:r>
            <a:r>
              <a:rPr lang="en-US" dirty="0"/>
              <a:t> and </a:t>
            </a:r>
            <a:r>
              <a:rPr lang="en-US" b="1" dirty="0"/>
              <a:t>Time Spent</a:t>
            </a:r>
            <a:r>
              <a:rPr lang="en-US" dirty="0"/>
              <a:t>) to track time while using story points.</a:t>
            </a:r>
          </a:p>
          <a:p>
            <a:endParaRPr lang="en-US" dirty="0"/>
          </a:p>
          <a:p>
            <a:endParaRPr lang="en-US" dirty="0"/>
          </a:p>
          <a:p>
            <a:endParaRPr lang="en-US" dirty="0"/>
          </a:p>
          <a:p>
            <a:endParaRPr lang="en-IN" dirty="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3618" y="234639"/>
            <a:ext cx="8039005" cy="369812"/>
          </a:xfrm>
        </p:spPr>
        <p:txBody>
          <a:bodyPr>
            <a:normAutofit fontScale="90000"/>
          </a:bodyPr>
          <a:lstStyle/>
          <a:p>
            <a:pPr lvl="0"/>
            <a:r>
              <a:rPr lang="en-IN" dirty="0"/>
              <a:t>Introduction to Workflows</a:t>
            </a:r>
            <a:endParaRPr lang="en-IN" dirty="0">
              <a:solidFill>
                <a:schemeClr val="tx1"/>
              </a:solidFill>
            </a:endParaRPr>
          </a:p>
        </p:txBody>
      </p:sp>
      <p:sp>
        <p:nvSpPr>
          <p:cNvPr id="5" name="Content Placeholder 4"/>
          <p:cNvSpPr>
            <a:spLocks noGrp="1"/>
          </p:cNvSpPr>
          <p:nvPr>
            <p:ph sz="half" idx="1"/>
          </p:nvPr>
        </p:nvSpPr>
        <p:spPr/>
        <p:txBody>
          <a:bodyPr/>
          <a:lstStyle/>
          <a:p>
            <a:r>
              <a:rPr lang="en-IN" dirty="0"/>
              <a:t>A JIRA workflow is a set of statuses and transitions that an issue goes through during its lifecycle. JIRA workflow encompasses five main stages once the issue is created.</a:t>
            </a:r>
          </a:p>
          <a:p>
            <a:r>
              <a:rPr lang="en-IN" dirty="0"/>
              <a:t>Open Issue</a:t>
            </a:r>
          </a:p>
          <a:p>
            <a:r>
              <a:rPr lang="en-IN" dirty="0"/>
              <a:t>Resolved Issue</a:t>
            </a:r>
          </a:p>
          <a:p>
            <a:r>
              <a:rPr lang="en-IN" dirty="0" err="1"/>
              <a:t>InProgress</a:t>
            </a:r>
            <a:r>
              <a:rPr lang="en-IN" dirty="0"/>
              <a:t> Issue</a:t>
            </a:r>
          </a:p>
          <a:p>
            <a:r>
              <a:rPr lang="en-IN" dirty="0" err="1"/>
              <a:t>ReOpened</a:t>
            </a:r>
            <a:r>
              <a:rPr lang="en-IN" dirty="0"/>
              <a:t> Issue</a:t>
            </a:r>
          </a:p>
          <a:p>
            <a:r>
              <a:rPr lang="en-IN" dirty="0"/>
              <a:t>Close Issue</a:t>
            </a:r>
          </a:p>
          <a:p>
            <a:pPr>
              <a:buNone/>
            </a:pPr>
            <a:r>
              <a:rPr lang="en-IN" dirty="0"/>
              <a:t/>
            </a:r>
            <a:br>
              <a:rPr lang="en-IN" dirty="0"/>
            </a:br>
            <a:endParaRPr lang="en-IN"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Words>
  <Application>Microsoft Office PowerPoint</Application>
  <PresentationFormat>Widescreen</PresentationFormat>
  <Paragraphs>76</Paragraphs>
  <Slides>11</Slides>
  <Notes>9</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11</vt:i4>
      </vt:variant>
      <vt:variant>
        <vt:lpstr>Custom Shows</vt:lpstr>
      </vt:variant>
      <vt:variant>
        <vt:i4>1</vt:i4>
      </vt:variant>
    </vt:vector>
  </HeadingPairs>
  <TitlesOfParts>
    <vt:vector size="18" baseType="lpstr">
      <vt:lpstr>Arial</vt:lpstr>
      <vt:lpstr>Calibri</vt:lpstr>
      <vt:lpstr>Helvetica LT Std Cond</vt:lpstr>
      <vt:lpstr>Helvetica LT Std Cond Light</vt:lpstr>
      <vt:lpstr>Wingdings</vt:lpstr>
      <vt:lpstr>Office Theme</vt:lpstr>
      <vt:lpstr>Day 1 – Introduction to Jira</vt:lpstr>
      <vt:lpstr>Table of Contents – Day 1</vt:lpstr>
      <vt:lpstr>JIRA Key Concepts</vt:lpstr>
      <vt:lpstr>Introduction to Issues</vt:lpstr>
      <vt:lpstr>What is Sprint</vt:lpstr>
      <vt:lpstr>What is Epic</vt:lpstr>
      <vt:lpstr>What is Story, Task , sub Task and Bugs</vt:lpstr>
      <vt:lpstr>What is Story, Task , sub Task and Bugs</vt:lpstr>
      <vt:lpstr>What is Story Points</vt:lpstr>
      <vt:lpstr>Introduction to Workflows</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Concepts, TDD, BDD &amp; Use case</dc:title>
  <dc:creator>Rekha Basurangan [MaGE]</dc:creator>
  <cp:lastModifiedBy>NAYANA K</cp:lastModifiedBy>
  <cp:revision>376</cp:revision>
  <dcterms:created xsi:type="dcterms:W3CDTF">2022-06-10T07:51:43Z</dcterms:created>
  <dcterms:modified xsi:type="dcterms:W3CDTF">2022-06-17T04:26:42Z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1033-3.1.6.6275</vt:lpwstr>
  </property>
</Properties>
</file>